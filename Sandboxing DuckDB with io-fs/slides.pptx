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Hello everyone, thank you all for being here.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name is Achille, I'm currently the Co-Founder and CTO of Firetiger, where we develop AI agents that verify the changes you push to production. I've been using Go since 2014 and authored and contributed to several projects, including the Go runtime and compiler.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I'm here to talk to you about today is about more than Go.</a:t>
            </a:r>
          </a:p>
          <a:p/>
          <a:p>
            <a:r>
              <a:t>We're going to talk about DuckDB. We're going to talk about CGO, and I know some of you just shivered, stay with me. We're going to talk about io/fs, which I think is an underrated corner of the standard library. And how we used all those tools as the fundamental building block in the query engine that our agents use to access data.</a:t>
            </a:r>
          </a:p>
          <a:p/>
          <a:p>
            <a:r>
              <a:t>Before we dive in, let me ask: who here has used DuckDB before? Alright, a good chunk of the room. And who here has shipped CGO to production on purpose? Fewer hands (or more hands). That's reassuring (or not). I hope that today, we'll all feel a little better about using CGO, when it matters, because we'll have seen examples of when to reach out for it, and what to lookout for, with a practical use case of integrating DuckDB in Go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start with DuckDB.</a:t>
            </a:r>
          </a:p>
          <a:p/>
          <a:p>
            <a:r>
              <a:t>DuckDB is an embedded SQL database optimized for analytics workloads: columnar, vectorized, built for scanning and aggregating large amounts of data. It runs in your process, there's no server, no cluster, no operations. And it's a real database: full SQL support, inserts, updates, transactions, the whole thing.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But the part I find the most powerful is not the database part at all: DuckDB can query almost anything. Point it at a CSV file and select from it. Point it at JSON. Point it at Parquet files and it will read the metadata, use the column statistics, and only fetch the pages it needs.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Then there's the extension ecosystem, and this is where it gets a little bit crazy. There are extensions to query files over HTTP, on S3, on GCS. There are extensions to connect to Postgres, or ClickHouse, or Iceberg tables. And because it's all SQL, you can join across all of these in a single query. You can join a Parquet file on S3 with a Postgres table and a CSV file on your laptop, in one statement.</a:t>
            </a:r>
          </a:p>
          <a:p/>
          <a:p>
            <a:r>
              <a:t>Under the hood, DuckDB builds one logical query plan, and then maps it to a physical plan for each data source, pushing predicates down whenever the source supports it. So when you filter on a column, that filter travels as close to the data as possible. This is decades of database research and engineering, definitely not the kind of things we want to rewrite. It is an extremely powerful piece of software, and it's free, and it's open-source.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But it's written in C++!</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Go ecosystem, we have a strong tendency to rewrite everything in Go. And nowadays with coding agents, rewriting has never been cheaper. The bar for deciding whether rewrite or reuse has shifted even further towards rewrite.</a:t>
            </a:r>
          </a:p>
          <a:p/>
          <a:p>
            <a:r>
              <a:t>But pieces of software like DuckDB have decades of research, optimization, bug fixes, an enormous test surface — a level of maturity you do not regenerate with a prompt. Not every great piece of software is written in Go, and that's fine. For DuckDB, using CGO is simply the right call today.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how are we using DuckDB?</a:t>
            </a:r>
          </a:p>
          <a:p/>
          <a:p>
            <a:r>
              <a:t>To query telemetry like logs, metrics, or traces, we give our agents access to a query engine over RPC via a `query` tool. The query engine is written in Go and where we embed DuckDB.</a:t>
            </a:r>
          </a:p>
          <a:p/>
          <a:p>
            <a:r>
              <a:t>The service handles authentication and configuration of the DuckDB instances to run against the customer data that the agent operates on behalf of. The Go layer also handles other functions like instrumentation for observability or caching to improve query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we embedded a C++ query engine in a Go service. What could possibly go wrong?</a:t>
            </a:r>
          </a:p>
          <a:p/>
          <a:p>
            <a:r>
              <a:t>Even if CGO is the right call, we still inherit a bunch of problems.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problems appear at build time: a Go application is a simple statically linked binary, but it's not necessarily true when you bring CGO to the mix. We have to decide if the C code will be statically or dynamically linked. Using static linking tend to make the build much slower, because the C compiler and linkers get involved, and they are much slower than Go. Dynamic linking on the other hand makes the final program unpredictable and it can fail at runtime due to version mismatches causing missing symbol errors.</a:t>
            </a:r>
          </a:p>
          <a:p/>
          <a:p>
            <a:r>
              <a:t>Like many of you I'm sure, we're using docker images to distribute software artifacts, and this is also how we solve this problem.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pixi installs a pre-built libduckdb, pinned by its lock file, in its own image layer. The Go build links against it dynamically with this build tag.</a:t>
            </a:r>
          </a:p>
          <a:p/>
          <a:p>
            <a:r>
              <a:t>This gives us a best-of-both-worlds model: the installation gets cached in the docker layer to keep the build fast, and we know exactly which version of the library we install, ensuring that we have a deterministic build process.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took care of the build problems, but we ran into several other issues, mostly caused by having two I/O stacks within the program.</a:t>
            </a:r>
          </a:p>
          <a:p/>
          <a:p>
            <a:r>
              <a:t>On one side, the Go runtime manages I/O through the io and net packages. We get goroutines, we get the scheduler multiplexing them across CPUs, we get the netpoller. It's a beautiful, coherent world.</a:t>
            </a:r>
          </a:p>
          <a:p/>
          <a:p>
            <a:r>
              <a:t>On the other side, DuckDB's I/O stack is a whole different beast. It has its own thread pools, its own buffering, its own HTTP client, its own retry logic. And now, to understand the behavior or the performance of your service, you need to understand how those two worlds interact. Trust me, that is not a fun debugging session.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Speaking of debugging: all the tools we love just stop working at the CGO boundary. pprof cannot see into the C++ side of the program. Your OpenTelemetry instrumentation doesn't exist over there. From the Go side, a query is one giant opaque function call: it enters CGO, time passes, results come out, and we have no idea of what happened underneath.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then there's authentication, which is where this gets genuinely painful. Our Go application already uses the AWS SDK. Credentials are configured, they rotate, role assumption works, all of it battle-tested. But DuckDB doesn't know about any of that. To let it read from S3, you install another extension, and you configure a whole different HTTP client, with its own credential chain, its own set of subtle behavior differences, and its own bugs. We had this problem solved once, and now we have to solve it a second time, in a different language, inside a library we don't control.</a:t>
            </a:r>
          </a:p>
          <a:p/>
          <a:p>
            <a:r>
              <a:t>By embedding DuckDB, we inherited a whole bag of problems that Go normally solves for us out of the box. And this is not specific to DuckDB: every Go application embedding a C library that does its own I/O runs into exactly this.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how did we solve it?</a:t>
            </a:r>
          </a:p>
          <a:p/>
          <a:p>
            <a:r>
              <a:t>Here's the thing: DuckDB is really well architected. All I/O in DuckDB, every single file operation, goes through a virtual file system abstraction. There's a FileSystem base class in the C++ code, and everything above it, the Parquet reader, the CSV reader, the buffer manager, only talks to that interface. Extensions like httpfs work by plugging alternative implementations into that same abstraction.</a:t>
            </a:r>
          </a:p>
          <a:p/>
          <a:p>
            <a:r>
              <a:t>And when I saw that, I thought to myself: wait. If httpfs can inject a file system, can I write my own virtual file system, and use CGO to inject Go into 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Go also has an abstraction for virtual file systems. It's the io/fs package, added in Go 1.16, and at its center is the fs.FS interface. And I love this interface, it's one method: Open takes a name, returns a file. That's it.</a:t>
            </a:r>
          </a:p>
          <a:p/>
          <a:p>
            <a:r>
              <a:t>The standard library gives you implementations for free: os.DirFS for a real directory, embed.FS for files compiled into your binary, fstest.MapFS for in-memory testing. And half the ecosystem already implements it.</a:t>
            </a:r>
          </a:p>
          <a:p/>
          <a:p>
            <a:r>
              <a:t>Now, fs.FS is read-only. There's no Write in the interface. But remember, we use DuckDB as a query engine only. We never write. Read-only is not a limitation for us, it's actually exactly the contract we want.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that's what we built, and it's open-source: github.com/firetiger-oss/go-duckfs. The package lets you mount any fs.FS as the virtual file system backing a DuckDB database.</a:t>
            </a:r>
          </a:p>
          <a:p/>
          <a:p>
            <a:r>
              <a:t>You call duckfs.Open, and you hand it a file system, here os.DirFS of a data directory. You get back a connector, you pass that to sql.OpenDB, and from here on, it's just database/sql, the standard interfaces you already know. When DuckDB opens data.parquet, it's not touching the operating system. It's calling your fs.FS.</a:t>
            </a:r>
          </a:p>
          <a:p/>
          <a:p>
            <a:r>
              <a:t>And the paths are just strings, so they can be anything your file system understands. You can register a file system that handles paths like "s3://bucket/table/file.parquet", and DuckDB will happily pass the whole thing to your Open method.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I'll walk you through exactly how this bridge is implemented in a minute, but first: what did it buy us?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sandboxing, it's in the title of the talk. Every I/O operation DuckDB performs now goes through an interface we control. DuckDB cannot open a socket, cannot read a file, cannot touch anything we didn't explicitly hand it. If the file system we mount only exposes one customer's data, then no matter what SQL the agent generated, the query can only ever read that customer's data. The sandbox isn't a policy we check, it's a structural property of the program. And when your queries are written by AI agents, that property helps you sleep at night.</a:t>
            </a:r>
          </a:p>
          <a:p/>
          <a:p>
            <a:r>
              <a:t>Second, observability. Every byte DuckDB reads now flows through Go code, so we can instrument all of it with the same tools as the rest of the application: every file operation gets attached to the OpenTelemetry trace of the request that triggered it. When a query is slow, we see exactly why. I'll show you how we wire the context through in part three.</a:t>
            </a:r>
          </a:p>
          <a:p/>
          <a:p>
            <a:r>
              <a:t>And it keeps going. Any backend: when Open sees "s3://" it picks the AWS client, "gs://" the GCS client — the same clients, credentials, and retry logic the rest of the application already uses, so the double-authentication problem just disappears. Caching: the file system is a value, so we wrap it with a page-cache layer, in plain Go. Testing: mount an fstest.MapFS and run a full DuckDB engine against a map literal, no fixtures, no Docker, no network. And security: what's left running as C++ is pure computation over in-memory data — all I/O, including TLS and credential handling, happens in memory-safe Go.</a:t>
            </a:r>
          </a:p>
          <a:p/>
          <a:p>
            <a:r>
              <a:t>One small package. All the CGO integration problems we listed, solved. Plus capabilities we didn't have before.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Alright, now let's get into the juicy stuff: how do you actually build this? The whole bridge is under a thousand lines of code, and it has exactly two pieces: a small C++ extension, and a set of exported Go functions.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we need to understand what we're plugging into. DuckDB's virtual file system is a C++ class, and a simplified view of it looks like this.</a:t>
            </a:r>
          </a:p>
          <a:p/>
          <a:p>
            <a:r>
              <a:t>Classic object-oriented design: OpenFile returns a FileHandle, and reads, seeks, stats all take that handle. Glob is in there too, because when you query "star dot parquet", someone has to expand that pattern. DuckDB lets you register any number of these file systems as subsystems, and routes each path to the one that claims it. That's exactly how httpfs works.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here's the first problem. This API is C++ only. Virtual methods, templates, unique_ptr, std::string. And CGO does not speak C++. CGO can only call plain C functions. DuckDB does ship a C API, the duckdb.h header that the Go bindings are built on, but the virtual file system is not part of it. There is no C API for file systems.</a:t>
            </a:r>
          </a:p>
          <a:p/>
          <a:p>
            <a:r>
              <a:t>So the bridge has to be a C++ class. We implement a subclass of duckdb::FileSystem, called GoFileSystem, and its only job is to translate every virtual method call into a plain C function call, because plain C functions are exactly the thing that Go can provide.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C++ side, we declare the C functions we wish existed.</a:t>
            </a:r>
          </a:p>
          <a:p/>
          <a:p>
            <a:r>
              <a:t>And each method of GoFileSystem is a one-liner that forwards to one of them, plus error translation, because DuckDB reports errors with C++ exceptions and our C functions report them with negative return values.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do those C functions come from? This is my favorite part of CGO, and it's the part people use the least: it goes both ways. Everyone knows Go can call C. But with the //export directive, C can call Go. You write a Go function, you put //export and its name in a comment above it, and the Go toolchain generates a C symbol for it that any C or C++ code in the binary can call.</a:t>
            </a:r>
          </a:p>
          <a:p/>
          <a:p>
            <a:r>
              <a:t>Here's the Go side of the read operation we just saw.</a:t>
            </a:r>
          </a:p>
          <a:p/>
          <a:p>
            <a:r>
              <a:t>Look at what happens here: DuckDB hands us a pointer to its own buffer, and unsafe.Slice wraps it as a Go byte slice, no copy. We call ReadAt on the fs.File and the data lands directly in DuckDB's memory. The whole crossing costs one function call and zero allocations.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There's one more piece of plumbing: registration. When you create a connector, we need to tell the DuckDB instance "here is a new file system subsystem". The C API gives us an opaque duckdb_database handle, and our extension casts it back to the internal C++ wrapper to reach the FileSystem registry.</a:t>
            </a:r>
          </a:p>
          <a:p/>
          <a:p>
            <a:r>
              <a:t>Is this a little bold? Yes. But that's a decision you get to make when you own the glue layer: we pin the DuckDB version in our build anyway, so it's a controlled risk, checked by tests.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you may have noticed: there is not a single Go pointer crossing into C++ in any of this code. Everything is done with these little integer IDs. That's not an accident, and it's the second implementation challenge, because anyone who bridges Go with C will hit it.</a:t>
            </a:r>
          </a:p>
          <a:p/>
          <a:p>
            <a:r>
              <a:t>The natural design would be: open a file, hand C++ a pointer to the fs.File, and have every read pass that pointer back. But the CGO pointer passing rules say no. C memory must not hold Go pointers across calls: the garbage collector can't see into C++, so nothing would keep the object alive, or stop it from being moved.</a:t>
            </a:r>
          </a:p>
          <a:p/>
          <a:p>
            <a:r>
              <a:t>So instead of passing pointers out, we keep every Go object at home, in a registry, and we hand C++ a claim ticket.</a:t>
            </a:r>
          </a:p>
          <a:p/>
          <a:p>
            <a:r>
              <a:t>Two registries: one for mounted file systems, one for open files. When DuckDB opens a file, we register the fs.File and return its index. Every subsequent operation carries that integer, and the trampoline looks the object up again. When the file closes, we unregister it, and the object becomes garbage like any other Go value: the lifetime of the Go object is explicitly tied to the lifetime of DuckDB's file handle. And the mutex matters, because DuckDB calls us from its own worker threads, not from a goroutine.</a:t>
            </a:r>
          </a:p>
          <a:p/>
          <a:p>
            <a:r>
              <a:t>And that's really the whole bridge: a C++ class that turns virtual calls into C calls, exported Go functions that turn C calls into interface calls, and an ID registry so no pointer ever crosses the line. Under a thousand lines, total.</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at this point we have a working bridge, and if all you need is to query local, static data, you're done. But the moment we put this in production, we hit a usability problem that I think is the most instructive part of the whole project: context.</a:t>
            </a:r>
          </a:p>
          <a:p/>
          <a:p>
            <a:r>
              <a:t>An RPC comes in. It carries a context.Context, and that context carries everything: the deadline, the cancellation signal, the tenant identity, the OpenTelemetry span. Every I/O operation we perform on behalf of that request is supposed to flow through that context. That's the contract of a well-behaved Go service.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trace the path of a read. The request handler executes a SQL query. The query descends into DuckDB, into C++. DuckDB schedules work on its own worker threads, and somewhere down there, a Parquet reader asks for bytes, and the call comes back up into our Go code through the bridge. And what do we receive?</a:t>
            </a:r>
          </a:p>
          <a:p/>
          <a:p>
            <a:r>
              <a:t>A string. fs.FS knows nothing about context, the interface is deliberately minimal. And there's no goroutine-local magic to save us either: this call isn't even coming from the goroutine that ran the query, it's coming from a DuckDB worker thread. The context is gone.</a:t>
            </a:r>
          </a:p>
          <a:p/>
          <a:p>
            <a:r>
              <a:t>So how do we get the request's context back on the other side of a C++ thread pool?</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a pattern you've already seen once in this talk: the file system is just a value, and values can capture things. When the request arrives, we construct the fs.FS for that specific request, and we store the context inside it.</a:t>
            </a:r>
          </a:p>
          <a:p/>
          <a:p>
            <a:r>
              <a:t>Open re-injects the captured context into everything it does, and the file it returns carries it too, so every ReadAt becomes an object store request made with the request's context. Deadline, cancellation, tracing span: they all made it across the C++ thread pool, smuggled inside the file system value itself.</a:t>
            </a:r>
          </a:p>
          <a:p/>
          <a:p>
            <a:r>
              <a:t>Now, I know what some of you are thinking, because it's written in the context package documentation: "do not store a context inside a struct type". As a general rule, that's right. But the rule exists because a context stored in a long-lived object outlives its request. Here, the file system value IS the request-scoped object: it's created when the query starts, and it dies with the query. When the lifetimes coincide, capturing the context is correct — this is the escape hatch the guideline leaves open, and crossing a foreign thread pool is precisely what it's for.</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last wrinkle, from performance. Creating a DuckDB connector is expensive, so we pool instances and reuse them. But the file system is registered with DuckDB once, at creation. How do we swap in a per-request file system on a pooled instance? One more layer of indirection: the file system we actually mount is a tiny resettable wrapper, and each query points it at the current request's context-bound file system.</a:t>
            </a:r>
          </a:p>
          <a:p/>
          <a:p>
            <a:r>
              <a:t>When the query finishes, we reset the wrapper to nil and put the instance back in the pool. The context never leaks past its request, and the pooled DuckDB instance never holds onto anything request-scoped between queries.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this is what the payoff looks like: one trace, end to end. The incoming RPC at the top, the SQL query below it, and then every single object store read that DuckDB triggered, each with its timing, each with its result, hanging off the request's span. When a query is slow, we don't guess anymore. We look.</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let me leave you with three takeaways.</a:t>
            </a:r>
          </a:p>
          <a:p/>
          <a:p>
            <a:r>
              <a:t>First, on software design. In the age of LLMs, the bar for what should be rewritten versus reused has moved, no question. But there are still high-quality pieces of software out there that we should reuse, and when we do, the glue layer is where the leverage is. DuckDB exposing a virtual file system abstraction, and Go shipping fs.FS in the standard library, is what made a one-thousand-line bridge possible. That's not luck, that's two well-designed systems meeting in the middle. And the pattern generalizes: most serious C libraries that do I/O expose some virtual file system hook. SQLite has one. If you can connect that hook to io/fs, everything I showed you today applies.</a:t>
            </a:r>
          </a:p>
          <a:p/>
          <a:p>
            <a:r>
              <a:t>Second, the implementation techniques are the reusable part: a thin C++ class to translate an object-oriented API into plain C functions, //export to let C call Go, integer handles instead of pointers so the garbage collector stays free, and request-scoped values to carry context across a foreign thread pool. That toolbox works for far more than DuckDB.</a:t>
            </a:r>
          </a:p>
          <a:p/>
          <a:p>
            <a:r>
              <a:t>And third, I hope you walk away with a more refined sense of when CGO is the right tool. Not "never", not "whatever": know the problems you're signing up for, and know that with the right abstraction at the boundary, you can make most of them disappear.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I showed today is open-source at github.com/firetiger-oss/go-duckfs. It's MIT licensed, issues and contributions are very welcome, there's plenty left to build. And as always, remember to support your open-source maintainers by being generous with GitHub stars.</a:t>
            </a:r>
          </a:p>
          <a:p/>
          <a:p>
            <a:r>
              <a:t>Thank you GopherCon! I think we have a couple of minutes for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00000" y="2300000"/>
            <a:ext cx="10400000" cy="1400000"/>
          </a:xfrm>
          <a:prstGeom prst="rect">
            <a:avLst/>
          </a:prstGeom>
          <a:noFill/>
        </p:spPr>
        <p:txBody>
          <a:bodyPr wrap="square">
            <a:spAutoFit/>
          </a:bodyPr>
          <a:lstStyle/>
          <a:p>
            <a:pPr algn="ctr"/>
            <a:r>
              <a:rPr sz="4400" b="1">
                <a:solidFill>
                  <a:srgbClr val="1A1A1A"/>
                </a:solidFill>
                <a:latin typeface="Arial"/>
              </a:rPr>
              <a:t>Sandboxing DuckDB with io/fs</a:t>
            </a:r>
          </a:p>
        </p:txBody>
      </p:sp>
      <p:sp>
        <p:nvSpPr>
          <p:cNvPr id="3" name="TextBox 2"/>
          <p:cNvSpPr txBox="1"/>
          <p:nvPr/>
        </p:nvSpPr>
        <p:spPr>
          <a:xfrm>
            <a:off x="900000" y="3900000"/>
            <a:ext cx="10400000" cy="1200000"/>
          </a:xfrm>
          <a:prstGeom prst="rect">
            <a:avLst/>
          </a:prstGeom>
          <a:noFill/>
        </p:spPr>
        <p:txBody>
          <a:bodyPr wrap="square">
            <a:spAutoFit/>
          </a:bodyPr>
          <a:lstStyle/>
          <a:p>
            <a:pPr algn="ctr"/>
            <a:r>
              <a:rPr sz="2000">
                <a:solidFill>
                  <a:srgbClr val="6B7280"/>
                </a:solidFill>
                <a:latin typeface="Arial"/>
              </a:rPr>
              <a:t>Achille Roussel — Co-Founder &amp; CTO, Firetiger</a:t>
            </a:r>
          </a:p>
          <a:p>
            <a:pPr algn="ctr"/>
            <a:r>
              <a:rPr sz="2000">
                <a:solidFill>
                  <a:srgbClr val="6B7280"/>
                </a:solidFill>
                <a:latin typeface="Arial"/>
              </a:rPr>
              <a:t>GopherCon 2026, Seattle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0000" y="350000"/>
            <a:ext cx="11000000" cy="800000"/>
          </a:xfrm>
          <a:prstGeom prst="rect">
            <a:avLst/>
          </a:prstGeom>
          <a:noFill/>
        </p:spPr>
        <p:txBody>
          <a:bodyPr wrap="square">
            <a:spAutoFit/>
          </a:bodyPr>
          <a:lstStyle/>
          <a:p>
            <a:r>
              <a:rPr sz="3000" b="1">
                <a:solidFill>
                  <a:srgbClr val="1A1A1A"/>
                </a:solidFill>
                <a:latin typeface="Arial"/>
              </a:rPr>
              <a:t>whoami</a:t>
            </a:r>
          </a:p>
        </p:txBody>
      </p:sp>
      <p:sp>
        <p:nvSpPr>
          <p:cNvPr id="3" name="TextBox 2"/>
          <p:cNvSpPr txBox="1"/>
          <p:nvPr/>
        </p:nvSpPr>
        <p:spPr>
          <a:xfrm>
            <a:off x="600000" y="1400000"/>
            <a:ext cx="11000000" cy="5058000"/>
          </a:xfrm>
          <a:prstGeom prst="rect">
            <a:avLst/>
          </a:prstGeom>
          <a:noFill/>
        </p:spPr>
        <p:txBody>
          <a:bodyPr wrap="square">
            <a:spAutoFit/>
          </a:bodyPr>
          <a:lstStyle/>
          <a:p>
            <a:pPr>
              <a:spcAft>
                <a:spcPts val="1000"/>
              </a:spcAft>
            </a:pPr>
            <a:r>
              <a:rPr sz="2000">
                <a:solidFill>
                  <a:srgbClr val="1A1A1A"/>
                </a:solidFill>
                <a:latin typeface="Arial"/>
              </a:rPr>
              <a:t>• Co-Founder &amp; CTO of Firetiger</a:t>
            </a:r>
          </a:p>
          <a:p>
            <a:pPr lvl="1">
              <a:spcAft>
                <a:spcPts val="1000"/>
              </a:spcAft>
            </a:pPr>
            <a:r>
              <a:rPr sz="1800">
                <a:solidFill>
                  <a:srgbClr val="6B7280"/>
                </a:solidFill>
                <a:latin typeface="Arial"/>
              </a:rPr>
              <a:t>– AI agents that verify the changes you push to production</a:t>
            </a:r>
          </a:p>
          <a:p>
            <a:pPr>
              <a:spcAft>
                <a:spcPts val="1000"/>
              </a:spcAft>
            </a:pPr>
            <a:r>
              <a:rPr sz="2000">
                <a:solidFill>
                  <a:srgbClr val="1A1A1A"/>
                </a:solidFill>
                <a:latin typeface="Arial"/>
              </a:rPr>
              <a:t>• Go developer since 2014</a:t>
            </a:r>
          </a:p>
          <a:p>
            <a:pPr>
              <a:spcAft>
                <a:spcPts val="1000"/>
              </a:spcAft>
            </a:pPr>
            <a:r>
              <a:rPr sz="2000">
                <a:solidFill>
                  <a:srgbClr val="1A1A1A"/>
                </a:solidFill>
                <a:latin typeface="Arial"/>
              </a:rPr>
              <a:t>• Contributor to the Go runtime and compiler</a:t>
            </a:r>
          </a:p>
          <a:p>
            <a:pPr>
              <a:spcAft>
                <a:spcPts val="1000"/>
              </a:spcAft>
            </a:pPr>
            <a:r>
              <a:rPr sz="2000">
                <a:solidFill>
                  <a:srgbClr val="1A1A1A"/>
                </a:solidFill>
                <a:latin typeface="Arial"/>
              </a:rPr>
              <a:t>• Open-source: ksuid, kafka-go, parquet-go,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0000" y="350000"/>
            <a:ext cx="11000000" cy="800000"/>
          </a:xfrm>
          <a:prstGeom prst="rect">
            <a:avLst/>
          </a:prstGeom>
          <a:noFill/>
        </p:spPr>
        <p:txBody>
          <a:bodyPr wrap="square">
            <a:spAutoFit/>
          </a:bodyPr>
          <a:lstStyle/>
          <a:p>
            <a:r>
              <a:rPr sz="3000" b="1">
                <a:solidFill>
                  <a:srgbClr val="1A1A1A"/>
                </a:solidFill>
                <a:latin typeface="Arial"/>
              </a:rPr>
              <a:t>More than Go</a:t>
            </a:r>
          </a:p>
        </p:txBody>
      </p:sp>
      <p:sp>
        <p:nvSpPr>
          <p:cNvPr id="3" name="TextBox 2"/>
          <p:cNvSpPr txBox="1"/>
          <p:nvPr/>
        </p:nvSpPr>
        <p:spPr>
          <a:xfrm>
            <a:off x="600000" y="1400000"/>
            <a:ext cx="11000000" cy="5058000"/>
          </a:xfrm>
          <a:prstGeom prst="rect">
            <a:avLst/>
          </a:prstGeom>
          <a:noFill/>
        </p:spPr>
        <p:txBody>
          <a:bodyPr wrap="square">
            <a:spAutoFit/>
          </a:bodyPr>
          <a:lstStyle/>
          <a:p>
            <a:pPr>
              <a:spcAft>
                <a:spcPts val="1000"/>
              </a:spcAft>
            </a:pPr>
            <a:r>
              <a:rPr sz="2000">
                <a:solidFill>
                  <a:srgbClr val="1A1A1A"/>
                </a:solidFill>
                <a:latin typeface="Arial"/>
              </a:rPr>
              <a:t>• DuckDB</a:t>
            </a:r>
          </a:p>
          <a:p>
            <a:pPr>
              <a:spcAft>
                <a:spcPts val="1000"/>
              </a:spcAft>
            </a:pPr>
            <a:r>
              <a:rPr sz="2000">
                <a:solidFill>
                  <a:srgbClr val="1A1A1A"/>
                </a:solidFill>
                <a:latin typeface="Arial"/>
              </a:rPr>
              <a:t>• CGO (stay with me)</a:t>
            </a:r>
          </a:p>
          <a:p>
            <a:pPr>
              <a:spcAft>
                <a:spcPts val="1000"/>
              </a:spcAft>
            </a:pPr>
            <a:r>
              <a:rPr sz="2000">
                <a:solidFill>
                  <a:srgbClr val="1A1A1A"/>
                </a:solidFill>
                <a:latin typeface="Arial"/>
              </a:rPr>
              <a:t>• io/fs — an underrated corner of the standard library</a:t>
            </a:r>
          </a:p>
          <a:p>
            <a:pPr>
              <a:spcAft>
                <a:spcPts val="1000"/>
              </a:spcAft>
            </a:pPr>
            <a:r>
              <a:rPr sz="2000">
                <a:solidFill>
                  <a:srgbClr val="1A1A1A"/>
                </a:solidFill>
                <a:latin typeface="Arial"/>
              </a:rPr>
              <a:t>• How they became the building blocks of our query engine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0000" y="350000"/>
            <a:ext cx="11000000" cy="800000"/>
          </a:xfrm>
          <a:prstGeom prst="rect">
            <a:avLst/>
          </a:prstGeom>
          <a:noFill/>
        </p:spPr>
        <p:txBody>
          <a:bodyPr wrap="square">
            <a:spAutoFit/>
          </a:bodyPr>
          <a:lstStyle/>
          <a:p>
            <a:r>
              <a:rPr sz="3000" b="1">
                <a:solidFill>
                  <a:srgbClr val="1A1A1A"/>
                </a:solidFill>
                <a:latin typeface="Arial"/>
              </a:rPr>
              <a:t>What is DuckDB?</a:t>
            </a:r>
          </a:p>
        </p:txBody>
      </p:sp>
      <p:sp>
        <p:nvSpPr>
          <p:cNvPr id="3" name="TextBox 2"/>
          <p:cNvSpPr txBox="1"/>
          <p:nvPr/>
        </p:nvSpPr>
        <p:spPr>
          <a:xfrm>
            <a:off x="600000" y="1400000"/>
            <a:ext cx="11000000" cy="5058000"/>
          </a:xfrm>
          <a:prstGeom prst="rect">
            <a:avLst/>
          </a:prstGeom>
          <a:noFill/>
        </p:spPr>
        <p:txBody>
          <a:bodyPr wrap="square">
            <a:spAutoFit/>
          </a:bodyPr>
          <a:lstStyle/>
          <a:p>
            <a:pPr>
              <a:spcAft>
                <a:spcPts val="1000"/>
              </a:spcAft>
            </a:pPr>
            <a:r>
              <a:rPr sz="2000">
                <a:solidFill>
                  <a:srgbClr val="1A1A1A"/>
                </a:solidFill>
                <a:latin typeface="Arial"/>
              </a:rPr>
              <a:t>• Embedded SQL database, optimized for analytics</a:t>
            </a:r>
          </a:p>
          <a:p>
            <a:pPr>
              <a:spcAft>
                <a:spcPts val="1000"/>
              </a:spcAft>
            </a:pPr>
            <a:r>
              <a:rPr sz="2000">
                <a:solidFill>
                  <a:srgbClr val="1A1A1A"/>
                </a:solidFill>
                <a:latin typeface="Arial"/>
              </a:rPr>
              <a:t>• Columnar, vectorized: built to scan and aggregate</a:t>
            </a:r>
          </a:p>
          <a:p>
            <a:pPr>
              <a:spcAft>
                <a:spcPts val="1000"/>
              </a:spcAft>
            </a:pPr>
            <a:r>
              <a:rPr sz="2000">
                <a:solidFill>
                  <a:srgbClr val="1A1A1A"/>
                </a:solidFill>
                <a:latin typeface="Arial"/>
              </a:rPr>
              <a:t>• In-process: no server, no cluster, no operations</a:t>
            </a:r>
          </a:p>
          <a:p>
            <a:pPr>
              <a:spcAft>
                <a:spcPts val="1000"/>
              </a:spcAft>
            </a:pPr>
            <a:r>
              <a:rPr sz="2000">
                <a:solidFill>
                  <a:srgbClr val="1A1A1A"/>
                </a:solidFill>
                <a:latin typeface="Arial"/>
              </a:rPr>
              <a:t>• A real database: full SQL, inserts, updates, transactions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0000" y="350000"/>
            <a:ext cx="11000000" cy="800000"/>
          </a:xfrm>
          <a:prstGeom prst="rect">
            <a:avLst/>
          </a:prstGeom>
          <a:noFill/>
        </p:spPr>
        <p:txBody>
          <a:bodyPr wrap="square">
            <a:spAutoFit/>
          </a:bodyPr>
          <a:lstStyle/>
          <a:p>
            <a:r>
              <a:rPr sz="3000" b="1">
                <a:solidFill>
                  <a:srgbClr val="1A1A1A"/>
                </a:solidFill>
                <a:latin typeface="Arial"/>
              </a:rPr>
              <a:t>DuckDB can query almost anything</a:t>
            </a:r>
          </a:p>
        </p:txBody>
      </p:sp>
      <p:sp>
        <p:nvSpPr>
          <p:cNvPr id="3" name="Rectangle 2"/>
          <p:cNvSpPr/>
          <p:nvPr/>
        </p:nvSpPr>
        <p:spPr>
          <a:xfrm>
            <a:off x="700000" y="1350000"/>
            <a:ext cx="10800000" cy="203000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wrap="none" lIns="300000" rIns="300000" tIns="200000" bIns="200000"/>
          <a:lstStyle/>
          <a:p>
            <a:pPr algn="l"/>
            <a:r>
              <a:rPr sz="1800">
                <a:solidFill>
                  <a:srgbClr val="E6E6E6"/>
                </a:solidFill>
                <a:latin typeface="Courier New"/>
              </a:rPr>
              <a:t>SELECT * FROM 'records.csv';</a:t>
            </a:r>
          </a:p>
          <a:p>
            <a:pPr algn="l"/>
            <a:r>
              <a:rPr sz="1800">
                <a:solidFill>
                  <a:srgbClr val="E6E6E6"/>
                </a:solidFill>
                <a:latin typeface="Courier New"/>
              </a:rPr>
              <a:t> </a:t>
            </a:r>
          </a:p>
          <a:p>
            <a:pPr algn="l"/>
            <a:r>
              <a:rPr sz="1800">
                <a:solidFill>
                  <a:srgbClr val="E6E6E6"/>
                </a:solidFill>
                <a:latin typeface="Courier New"/>
              </a:rPr>
              <a:t>SELECT * FROM 'events.json';</a:t>
            </a:r>
          </a:p>
          <a:p>
            <a:pPr algn="l"/>
            <a:r>
              <a:rPr sz="1800">
                <a:solidFill>
                  <a:srgbClr val="E6E6E6"/>
                </a:solidFill>
                <a:latin typeface="Courier New"/>
              </a:rPr>
              <a:t> </a:t>
            </a:r>
          </a:p>
          <a:p>
            <a:pPr algn="l"/>
            <a:r>
              <a:rPr sz="1800">
                <a:solidFill>
                  <a:srgbClr val="E6E6E6"/>
                </a:solidFill>
                <a:latin typeface="Courier New"/>
              </a:rPr>
              <a:t>SELECT * FROM 's3://bucket/table/*.parquet';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0000" y="350000"/>
            <a:ext cx="11000000" cy="800000"/>
          </a:xfrm>
          <a:prstGeom prst="rect">
            <a:avLst/>
          </a:prstGeom>
          <a:noFill/>
        </p:spPr>
        <p:txBody>
          <a:bodyPr wrap="square">
            <a:spAutoFit/>
          </a:bodyPr>
          <a:lstStyle/>
          <a:p>
            <a:r>
              <a:rPr sz="3000" b="1">
                <a:solidFill>
                  <a:srgbClr val="1A1A1A"/>
                </a:solidFill>
                <a:latin typeface="Arial"/>
              </a:rPr>
              <a:t>The extension ecosystem</a:t>
            </a:r>
          </a:p>
        </p:txBody>
      </p:sp>
      <p:sp>
        <p:nvSpPr>
          <p:cNvPr id="3" name="TextBox 2"/>
          <p:cNvSpPr txBox="1"/>
          <p:nvPr/>
        </p:nvSpPr>
        <p:spPr>
          <a:xfrm>
            <a:off x="600000" y="1400000"/>
            <a:ext cx="11000000" cy="5058000"/>
          </a:xfrm>
          <a:prstGeom prst="rect">
            <a:avLst/>
          </a:prstGeom>
          <a:noFill/>
        </p:spPr>
        <p:txBody>
          <a:bodyPr wrap="square">
            <a:spAutoFit/>
          </a:bodyPr>
          <a:lstStyle/>
          <a:p>
            <a:pPr>
              <a:spcAft>
                <a:spcPts val="1000"/>
              </a:spcAft>
            </a:pPr>
            <a:r>
              <a:rPr sz="2000">
                <a:solidFill>
                  <a:srgbClr val="1A1A1A"/>
                </a:solidFill>
                <a:latin typeface="Arial"/>
              </a:rPr>
              <a:t>• Query files over HTTP, on S3, on GCS</a:t>
            </a:r>
          </a:p>
          <a:p>
            <a:pPr>
              <a:spcAft>
                <a:spcPts val="1000"/>
              </a:spcAft>
            </a:pPr>
            <a:r>
              <a:rPr sz="2000">
                <a:solidFill>
                  <a:srgbClr val="1A1A1A"/>
                </a:solidFill>
                <a:latin typeface="Arial"/>
              </a:rPr>
              <a:t>• Connect to Postgres, ClickHouse, Iceberg tables</a:t>
            </a:r>
          </a:p>
          <a:p>
            <a:pPr>
              <a:spcAft>
                <a:spcPts val="1000"/>
              </a:spcAft>
            </a:pPr>
            <a:r>
              <a:rPr sz="2000">
                <a:solidFill>
                  <a:srgbClr val="1A1A1A"/>
                </a:solidFill>
                <a:latin typeface="Arial"/>
              </a:rPr>
              <a:t>• Join across all of them in a single SQL statement</a:t>
            </a:r>
          </a:p>
          <a:p>
            <a:pPr>
              <a:spcAft>
                <a:spcPts val="1000"/>
              </a:spcAft>
            </a:pPr>
            <a:r>
              <a:rPr sz="2000">
                <a:solidFill>
                  <a:srgbClr val="1A1A1A"/>
                </a:solidFill>
                <a:latin typeface="Arial"/>
              </a:rPr>
              <a:t>• One logical plan, predicate pushdown per source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00000" y="2600000"/>
            <a:ext cx="10400000" cy="1800000"/>
          </a:xfrm>
          <a:prstGeom prst="rect">
            <a:avLst/>
          </a:prstGeom>
          <a:noFill/>
        </p:spPr>
        <p:txBody>
          <a:bodyPr wrap="square">
            <a:spAutoFit/>
          </a:bodyPr>
          <a:lstStyle/>
          <a:p>
            <a:pPr algn="ctr"/>
            <a:r>
              <a:rPr sz="4000" b="1">
                <a:solidFill>
                  <a:srgbClr val="1A1A1A"/>
                </a:solidFill>
                <a:latin typeface="Arial"/>
              </a:rPr>
              <a:t>But it's written in C++!</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0000" y="350000"/>
            <a:ext cx="11000000" cy="800000"/>
          </a:xfrm>
          <a:prstGeom prst="rect">
            <a:avLst/>
          </a:prstGeom>
          <a:noFill/>
        </p:spPr>
        <p:txBody>
          <a:bodyPr wrap="square">
            <a:spAutoFit/>
          </a:bodyPr>
          <a:lstStyle/>
          <a:p>
            <a:r>
              <a:rPr sz="3000" b="1">
                <a:solidFill>
                  <a:srgbClr val="1A1A1A"/>
                </a:solidFill>
                <a:latin typeface="Arial"/>
              </a:rPr>
              <a:t>Rewrite it in Go?</a:t>
            </a:r>
          </a:p>
        </p:txBody>
      </p:sp>
      <p:sp>
        <p:nvSpPr>
          <p:cNvPr id="3" name="TextBox 2"/>
          <p:cNvSpPr txBox="1"/>
          <p:nvPr/>
        </p:nvSpPr>
        <p:spPr>
          <a:xfrm>
            <a:off x="600000" y="1400000"/>
            <a:ext cx="11000000" cy="5058000"/>
          </a:xfrm>
          <a:prstGeom prst="rect">
            <a:avLst/>
          </a:prstGeom>
          <a:noFill/>
        </p:spPr>
        <p:txBody>
          <a:bodyPr wrap="square">
            <a:spAutoFit/>
          </a:bodyPr>
          <a:lstStyle/>
          <a:p>
            <a:pPr>
              <a:spcAft>
                <a:spcPts val="1000"/>
              </a:spcAft>
            </a:pPr>
            <a:r>
              <a:rPr sz="2000">
                <a:solidFill>
                  <a:srgbClr val="1A1A1A"/>
                </a:solidFill>
                <a:latin typeface="Arial"/>
              </a:rPr>
              <a:t>• We rewrite everything in Go — and coding agents made it cheap</a:t>
            </a:r>
          </a:p>
          <a:p>
            <a:pPr>
              <a:spcAft>
                <a:spcPts val="1000"/>
              </a:spcAft>
            </a:pPr>
            <a:r>
              <a:rPr sz="2000">
                <a:solidFill>
                  <a:srgbClr val="1A1A1A"/>
                </a:solidFill>
                <a:latin typeface="Arial"/>
              </a:rPr>
              <a:t>• The rewrite-vs-reuse bar has shifted towards rewrite</a:t>
            </a:r>
          </a:p>
          <a:p>
            <a:pPr>
              <a:spcAft>
                <a:spcPts val="1000"/>
              </a:spcAft>
            </a:pPr>
            <a:r>
              <a:rPr sz="2000">
                <a:solidFill>
                  <a:srgbClr val="1A1A1A"/>
                </a:solidFill>
                <a:latin typeface="Arial"/>
              </a:rPr>
              <a:t>• But: decades of research, optimization, bug fixes, tests</a:t>
            </a:r>
          </a:p>
          <a:p>
            <a:pPr>
              <a:spcAft>
                <a:spcPts val="1000"/>
              </a:spcAft>
            </a:pPr>
            <a:r>
              <a:rPr sz="2000">
                <a:solidFill>
                  <a:srgbClr val="1A1A1A"/>
                </a:solidFill>
                <a:latin typeface="Arial"/>
              </a:rPr>
              <a:t>• That maturity is not regenerated with a prompt</a:t>
            </a:r>
          </a:p>
          <a:p>
            <a:pPr>
              <a:spcAft>
                <a:spcPts val="1000"/>
              </a:spcAft>
            </a:pPr>
            <a:r>
              <a:rPr sz="2000">
                <a:solidFill>
                  <a:srgbClr val="1A1A1A"/>
                </a:solidFill>
                <a:latin typeface="Arial"/>
              </a:rPr>
              <a:t>• For DuckDB, CGO is simply the right call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0000" y="350000"/>
            <a:ext cx="11000000" cy="800000"/>
          </a:xfrm>
          <a:prstGeom prst="rect">
            <a:avLst/>
          </a:prstGeom>
          <a:noFill/>
        </p:spPr>
        <p:txBody>
          <a:bodyPr wrap="square">
            <a:spAutoFit/>
          </a:bodyPr>
          <a:lstStyle/>
          <a:p>
            <a:r>
              <a:rPr sz="3000" b="1">
                <a:solidFill>
                  <a:srgbClr val="1A1A1A"/>
                </a:solidFill>
                <a:latin typeface="Arial"/>
              </a:rPr>
              <a:t>How are we using DuckDB?</a:t>
            </a:r>
          </a:p>
        </p:txBody>
      </p:sp>
      <p:sp>
        <p:nvSpPr>
          <p:cNvPr id="3" name="Rectangle 2"/>
          <p:cNvSpPr/>
          <p:nvPr/>
        </p:nvSpPr>
        <p:spPr>
          <a:xfrm>
            <a:off x="700000" y="1400000"/>
            <a:ext cx="10800000" cy="5058000"/>
          </a:xfrm>
          <a:prstGeom prst="rect">
            <a:avLst/>
          </a:prstGeom>
          <a:solidFill>
            <a:srgbClr val="F1F3F5"/>
          </a:solidFill>
          <a:ln w="12700">
            <a:solidFill>
              <a:srgbClr val="ADB5BD"/>
            </a:solidFill>
          </a:ln>
        </p:spPr>
        <p:style>
          <a:lnRef idx="1">
            <a:schemeClr val="accent1"/>
          </a:lnRef>
          <a:fillRef idx="3">
            <a:schemeClr val="accent1"/>
          </a:fillRef>
          <a:effectRef idx="2">
            <a:schemeClr val="accent1"/>
          </a:effectRef>
          <a:fontRef idx="minor">
            <a:schemeClr val="lt1"/>
          </a:fontRef>
        </p:style>
        <p:txBody>
          <a:bodyPr rtlCol="0" anchor="ctr" wrap="square" lIns="400000" rIns="400000"/>
          <a:lstStyle/>
          <a:p>
            <a:pPr algn="ctr"/>
            <a:r>
              <a:rPr sz="1600" i="1">
                <a:solidFill>
                  <a:srgbClr val="6B7280"/>
                </a:solidFill>
                <a:latin typeface="Arial"/>
              </a:rPr>
              <a:t>[DIAGRAM] query path through the system: agent `query` tool call over RPC -&gt; Go service (authentication, configuration, instrumentation, caching) -&gt; embedded DuckDB (CGO) -&gt; Iceberg tables (Parquet on S3/GCS) -&gt; results stream back to the agent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00000" y="2600000"/>
            <a:ext cx="10400000" cy="1800000"/>
          </a:xfrm>
          <a:prstGeom prst="rect">
            <a:avLst/>
          </a:prstGeom>
          <a:noFill/>
        </p:spPr>
        <p:txBody>
          <a:bodyPr wrap="square">
            <a:spAutoFit/>
          </a:bodyPr>
          <a:lstStyle/>
          <a:p>
            <a:pPr algn="ctr"/>
            <a:r>
              <a:rPr sz="4000" b="1">
                <a:solidFill>
                  <a:srgbClr val="1A1A1A"/>
                </a:solidFill>
                <a:latin typeface="Arial"/>
              </a:rPr>
              <a:t>What could possibly go wrong?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0000" y="350000"/>
            <a:ext cx="11000000" cy="800000"/>
          </a:xfrm>
          <a:prstGeom prst="rect">
            <a:avLst/>
          </a:prstGeom>
          <a:noFill/>
        </p:spPr>
        <p:txBody>
          <a:bodyPr wrap="square">
            <a:spAutoFit/>
          </a:bodyPr>
          <a:lstStyle/>
          <a:p>
            <a:r>
              <a:rPr sz="3000" b="1">
                <a:solidFill>
                  <a:srgbClr val="1A1A1A"/>
                </a:solidFill>
                <a:latin typeface="Arial"/>
              </a:rPr>
              <a:t>Problem #1: linking</a:t>
            </a:r>
          </a:p>
        </p:txBody>
      </p:sp>
      <p:sp>
        <p:nvSpPr>
          <p:cNvPr id="3" name="TextBox 2"/>
          <p:cNvSpPr txBox="1"/>
          <p:nvPr/>
        </p:nvSpPr>
        <p:spPr>
          <a:xfrm>
            <a:off x="600000" y="1400000"/>
            <a:ext cx="11000000" cy="5058000"/>
          </a:xfrm>
          <a:prstGeom prst="rect">
            <a:avLst/>
          </a:prstGeom>
          <a:noFill/>
        </p:spPr>
        <p:txBody>
          <a:bodyPr wrap="square">
            <a:spAutoFit/>
          </a:bodyPr>
          <a:lstStyle/>
          <a:p>
            <a:pPr>
              <a:spcAft>
                <a:spcPts val="1000"/>
              </a:spcAft>
            </a:pPr>
            <a:r>
              <a:rPr sz="2000">
                <a:solidFill>
                  <a:srgbClr val="1A1A1A"/>
                </a:solidFill>
                <a:latin typeface="Arial"/>
              </a:rPr>
              <a:t>• Static linking: C compiler and linker in every Go build — slow</a:t>
            </a:r>
          </a:p>
          <a:p>
            <a:pPr>
              <a:spcAft>
                <a:spcPts val="1000"/>
              </a:spcAft>
            </a:pPr>
            <a:r>
              <a:rPr sz="2000">
                <a:solidFill>
                  <a:srgbClr val="1A1A1A"/>
                </a:solidFill>
                <a:latin typeface="Arial"/>
              </a:rPr>
              <a:t>• Dynamic linking: depends on the libduckdb of the host</a:t>
            </a:r>
          </a:p>
          <a:p>
            <a:pPr lvl="1">
              <a:spcAft>
                <a:spcPts val="1000"/>
              </a:spcAft>
            </a:pPr>
            <a:r>
              <a:rPr sz="1800">
                <a:solidFill>
                  <a:srgbClr val="6B7280"/>
                </a:solidFill>
                <a:latin typeface="Arial"/>
              </a:rPr>
              <a:t>– version mismatches, missing symbols, runtime failures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0000" y="350000"/>
            <a:ext cx="11000000" cy="800000"/>
          </a:xfrm>
          <a:prstGeom prst="rect">
            <a:avLst/>
          </a:prstGeom>
          <a:noFill/>
        </p:spPr>
        <p:txBody>
          <a:bodyPr wrap="square">
            <a:spAutoFit/>
          </a:bodyPr>
          <a:lstStyle/>
          <a:p>
            <a:r>
              <a:rPr sz="3000" b="1">
                <a:solidFill>
                  <a:srgbClr val="1A1A1A"/>
                </a:solidFill>
                <a:latin typeface="Arial"/>
              </a:rPr>
              <a:t>Docker makes dynamic linking deterministic</a:t>
            </a:r>
          </a:p>
        </p:txBody>
      </p:sp>
      <p:sp>
        <p:nvSpPr>
          <p:cNvPr id="3" name="Rectangle 2"/>
          <p:cNvSpPr/>
          <p:nvPr/>
        </p:nvSpPr>
        <p:spPr>
          <a:xfrm>
            <a:off x="700000" y="1350000"/>
            <a:ext cx="10800000" cy="311800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wrap="none" lIns="300000" rIns="300000" tIns="200000" bIns="200000"/>
          <a:lstStyle/>
          <a:p>
            <a:pPr algn="l"/>
            <a:r>
              <a:rPr sz="1400">
                <a:solidFill>
                  <a:srgbClr val="E6E6E6"/>
                </a:solidFill>
                <a:latin typeface="Courier New"/>
              </a:rPr>
              <a:t>FROM ghcr.io/prefix-dev/pixi:latest AS pixi</a:t>
            </a:r>
          </a:p>
          <a:p>
            <a:pPr algn="l"/>
            <a:r>
              <a:rPr sz="1400">
                <a:solidFill>
                  <a:srgbClr val="E6E6E6"/>
                </a:solidFill>
                <a:latin typeface="Courier New"/>
              </a:rPr>
              <a:t>WORKDIR /src</a:t>
            </a:r>
          </a:p>
          <a:p>
            <a:pPr algn="l"/>
            <a:r>
              <a:rPr sz="1400">
                <a:solidFill>
                  <a:srgbClr val="E6E6E6"/>
                </a:solidFill>
                <a:latin typeface="Courier New"/>
              </a:rPr>
              <a:t>COPY pixi.toml pixi.lock .</a:t>
            </a:r>
          </a:p>
          <a:p>
            <a:pPr algn="l"/>
            <a:r>
              <a:rPr sz="1400">
                <a:solidFill>
                  <a:srgbClr val="E6E6E6"/>
                </a:solidFill>
                <a:latin typeface="Courier New"/>
              </a:rPr>
              <a:t>RUN pixi install --locked</a:t>
            </a:r>
          </a:p>
          <a:p>
            <a:pPr algn="l"/>
            <a:r>
              <a:rPr sz="1400">
                <a:solidFill>
                  <a:srgbClr val="E6E6E6"/>
                </a:solidFill>
                <a:latin typeface="Courier New"/>
              </a:rPr>
              <a:t> </a:t>
            </a:r>
          </a:p>
          <a:p>
            <a:pPr algn="l"/>
            <a:r>
              <a:rPr sz="1400">
                <a:solidFill>
                  <a:srgbClr val="E6E6E6"/>
                </a:solidFill>
                <a:latin typeface="Courier New"/>
              </a:rPr>
              <a:t>FROM golang:1.25 AS build</a:t>
            </a:r>
          </a:p>
          <a:p>
            <a:pPr algn="l"/>
            <a:r>
              <a:rPr sz="1400">
                <a:solidFill>
                  <a:srgbClr val="E6E6E6"/>
                </a:solidFill>
                <a:latin typeface="Courier New"/>
              </a:rPr>
              <a:t>WORKDIR /src</a:t>
            </a:r>
          </a:p>
          <a:p>
            <a:pPr algn="l"/>
            <a:r>
              <a:rPr sz="1400">
                <a:solidFill>
                  <a:srgbClr val="E6E6E6"/>
                </a:solidFill>
                <a:latin typeface="Courier New"/>
              </a:rPr>
              <a:t>COPY --from=pixi /src/.pixi .pixi</a:t>
            </a:r>
          </a:p>
          <a:p>
            <a:pPr algn="l"/>
            <a:r>
              <a:rPr sz="1400">
                <a:solidFill>
                  <a:srgbClr val="E6E6E6"/>
                </a:solidFill>
                <a:latin typeface="Courier New"/>
              </a:rPr>
              <a:t>COPY . .</a:t>
            </a:r>
          </a:p>
          <a:p>
            <a:pPr algn="l"/>
            <a:r>
              <a:rPr sz="1400">
                <a:solidFill>
                  <a:srgbClr val="E6E6E6"/>
                </a:solidFill>
                <a:latin typeface="Courier New"/>
              </a:rPr>
              <a:t>ENV CGO_LDFLAGS="-L/src/.pixi/envs/default/lib -lduckdb"</a:t>
            </a:r>
          </a:p>
          <a:p>
            <a:pPr algn="l"/>
            <a:r>
              <a:rPr sz="1400">
                <a:solidFill>
                  <a:srgbClr val="E6E6E6"/>
                </a:solidFill>
                <a:latin typeface="Courier New"/>
              </a:rPr>
              <a:t>RUN go build -tags=duckdb_use_lib</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0000" y="350000"/>
            <a:ext cx="11000000" cy="800000"/>
          </a:xfrm>
          <a:prstGeom prst="rect">
            <a:avLst/>
          </a:prstGeom>
          <a:noFill/>
        </p:spPr>
        <p:txBody>
          <a:bodyPr wrap="square">
            <a:spAutoFit/>
          </a:bodyPr>
          <a:lstStyle/>
          <a:p>
            <a:r>
              <a:rPr sz="3000" b="1">
                <a:solidFill>
                  <a:srgbClr val="1A1A1A"/>
                </a:solidFill>
                <a:latin typeface="Arial"/>
              </a:rPr>
              <a:t>Two I/O stacks in one binary</a:t>
            </a:r>
          </a:p>
        </p:txBody>
      </p:sp>
      <p:sp>
        <p:nvSpPr>
          <p:cNvPr id="3" name="Rectangle 2"/>
          <p:cNvSpPr/>
          <p:nvPr/>
        </p:nvSpPr>
        <p:spPr>
          <a:xfrm>
            <a:off x="700000" y="1400000"/>
            <a:ext cx="10800000" cy="5058000"/>
          </a:xfrm>
          <a:prstGeom prst="rect">
            <a:avLst/>
          </a:prstGeom>
          <a:solidFill>
            <a:srgbClr val="F1F3F5"/>
          </a:solidFill>
          <a:ln w="12700">
            <a:solidFill>
              <a:srgbClr val="ADB5BD"/>
            </a:solidFill>
          </a:ln>
        </p:spPr>
        <p:style>
          <a:lnRef idx="1">
            <a:schemeClr val="accent1"/>
          </a:lnRef>
          <a:fillRef idx="3">
            <a:schemeClr val="accent1"/>
          </a:fillRef>
          <a:effectRef idx="2">
            <a:schemeClr val="accent1"/>
          </a:effectRef>
          <a:fontRef idx="minor">
            <a:schemeClr val="lt1"/>
          </a:fontRef>
        </p:style>
        <p:txBody>
          <a:bodyPr rtlCol="0" anchor="ctr" wrap="square" lIns="400000" rIns="400000"/>
          <a:lstStyle/>
          <a:p>
            <a:pPr algn="ctr"/>
            <a:r>
              <a:rPr sz="1600" i="1">
                <a:solidFill>
                  <a:srgbClr val="6B7280"/>
                </a:solidFill>
                <a:latin typeface="Arial"/>
              </a:rPr>
              <a:t>[DIAGRAM] side by side in one process — left: Go runtime with goroutines, scheduler, netpoller, net/http, AWS SDK; right: DuckDB C++ stack with its own thread pool, buffer manager, HTTP client, credential chain; a wall between them labeled 'CGO boundary'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0000" y="350000"/>
            <a:ext cx="11000000" cy="800000"/>
          </a:xfrm>
          <a:prstGeom prst="rect">
            <a:avLst/>
          </a:prstGeom>
          <a:noFill/>
        </p:spPr>
        <p:txBody>
          <a:bodyPr wrap="square">
            <a:spAutoFit/>
          </a:bodyPr>
          <a:lstStyle/>
          <a:p>
            <a:r>
              <a:rPr sz="3000" b="1">
                <a:solidFill>
                  <a:srgbClr val="1A1A1A"/>
                </a:solidFill>
                <a:latin typeface="Arial"/>
              </a:rPr>
              <a:t>Debugging blind</a:t>
            </a:r>
          </a:p>
        </p:txBody>
      </p:sp>
      <p:sp>
        <p:nvSpPr>
          <p:cNvPr id="3" name="TextBox 2"/>
          <p:cNvSpPr txBox="1"/>
          <p:nvPr/>
        </p:nvSpPr>
        <p:spPr>
          <a:xfrm>
            <a:off x="600000" y="1400000"/>
            <a:ext cx="11000000" cy="5058000"/>
          </a:xfrm>
          <a:prstGeom prst="rect">
            <a:avLst/>
          </a:prstGeom>
          <a:noFill/>
        </p:spPr>
        <p:txBody>
          <a:bodyPr wrap="square">
            <a:spAutoFit/>
          </a:bodyPr>
          <a:lstStyle/>
          <a:p>
            <a:pPr>
              <a:spcAft>
                <a:spcPts val="1000"/>
              </a:spcAft>
            </a:pPr>
            <a:r>
              <a:rPr sz="2000">
                <a:solidFill>
                  <a:srgbClr val="1A1A1A"/>
                </a:solidFill>
                <a:latin typeface="Arial"/>
              </a:rPr>
              <a:t>• pprof stops at the CGO boundary</a:t>
            </a:r>
          </a:p>
          <a:p>
            <a:pPr>
              <a:spcAft>
                <a:spcPts val="1000"/>
              </a:spcAft>
            </a:pPr>
            <a:r>
              <a:rPr sz="2000">
                <a:solidFill>
                  <a:srgbClr val="1A1A1A"/>
                </a:solidFill>
                <a:latin typeface="Arial"/>
              </a:rPr>
              <a:t>• OpenTelemetry instrumentation doesn't exist in C++</a:t>
            </a:r>
          </a:p>
          <a:p>
            <a:pPr>
              <a:spcAft>
                <a:spcPts val="1000"/>
              </a:spcAft>
            </a:pPr>
            <a:r>
              <a:rPr sz="2000">
                <a:solidFill>
                  <a:srgbClr val="1A1A1A"/>
                </a:solidFill>
                <a:latin typeface="Arial"/>
              </a:rPr>
              <a:t>• A query = one giant opaque function call</a:t>
            </a:r>
          </a:p>
          <a:p>
            <a:pPr>
              <a:spcAft>
                <a:spcPts val="1000"/>
              </a:spcAft>
            </a:pPr>
            <a:r>
              <a:rPr sz="2000">
                <a:solidFill>
                  <a:srgbClr val="1A1A1A"/>
                </a:solidFill>
                <a:latin typeface="Arial"/>
              </a:rPr>
              <a:t>• What did it read? How many S3 requests? Cache warm?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0000" y="350000"/>
            <a:ext cx="11000000" cy="800000"/>
          </a:xfrm>
          <a:prstGeom prst="rect">
            <a:avLst/>
          </a:prstGeom>
          <a:noFill/>
        </p:spPr>
        <p:txBody>
          <a:bodyPr wrap="square">
            <a:spAutoFit/>
          </a:bodyPr>
          <a:lstStyle/>
          <a:p>
            <a:r>
              <a:rPr sz="3000" b="1">
                <a:solidFill>
                  <a:srgbClr val="1A1A1A"/>
                </a:solidFill>
                <a:latin typeface="Arial"/>
              </a:rPr>
              <a:t>Authentication, twice</a:t>
            </a:r>
          </a:p>
        </p:txBody>
      </p:sp>
      <p:sp>
        <p:nvSpPr>
          <p:cNvPr id="3" name="TextBox 2"/>
          <p:cNvSpPr txBox="1"/>
          <p:nvPr/>
        </p:nvSpPr>
        <p:spPr>
          <a:xfrm>
            <a:off x="600000" y="1400000"/>
            <a:ext cx="11000000" cy="5058000"/>
          </a:xfrm>
          <a:prstGeom prst="rect">
            <a:avLst/>
          </a:prstGeom>
          <a:noFill/>
        </p:spPr>
        <p:txBody>
          <a:bodyPr wrap="square">
            <a:spAutoFit/>
          </a:bodyPr>
          <a:lstStyle/>
          <a:p>
            <a:pPr>
              <a:spcAft>
                <a:spcPts val="1000"/>
              </a:spcAft>
            </a:pPr>
            <a:r>
              <a:rPr sz="2000">
                <a:solidFill>
                  <a:srgbClr val="1A1A1A"/>
                </a:solidFill>
                <a:latin typeface="Arial"/>
              </a:rPr>
              <a:t>• The Go app already uses the AWS SDK: rotation, roles, battle-tested</a:t>
            </a:r>
          </a:p>
          <a:p>
            <a:pPr>
              <a:spcAft>
                <a:spcPts val="1000"/>
              </a:spcAft>
            </a:pPr>
            <a:r>
              <a:rPr sz="2000">
                <a:solidFill>
                  <a:srgbClr val="1A1A1A"/>
                </a:solidFill>
                <a:latin typeface="Arial"/>
              </a:rPr>
              <a:t>• DuckDB knows nothing about it</a:t>
            </a:r>
          </a:p>
          <a:p>
            <a:pPr>
              <a:spcAft>
                <a:spcPts val="1000"/>
              </a:spcAft>
            </a:pPr>
            <a:r>
              <a:rPr sz="2000">
                <a:solidFill>
                  <a:srgbClr val="1A1A1A"/>
                </a:solidFill>
                <a:latin typeface="Arial"/>
              </a:rPr>
              <a:t>• Another extension, another HTTP client, another credential chain</a:t>
            </a:r>
          </a:p>
          <a:p>
            <a:pPr>
              <a:spcAft>
                <a:spcPts val="1000"/>
              </a:spcAft>
            </a:pPr>
            <a:r>
              <a:rPr sz="2000">
                <a:solidFill>
                  <a:srgbClr val="1A1A1A"/>
                </a:solidFill>
                <a:latin typeface="Arial"/>
              </a:rPr>
              <a:t>• Same problem, solved twice, in a library we don't control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0000" y="350000"/>
            <a:ext cx="11000000" cy="800000"/>
          </a:xfrm>
          <a:prstGeom prst="rect">
            <a:avLst/>
          </a:prstGeom>
          <a:noFill/>
        </p:spPr>
        <p:txBody>
          <a:bodyPr wrap="square">
            <a:spAutoFit/>
          </a:bodyPr>
          <a:lstStyle/>
          <a:p>
            <a:r>
              <a:rPr sz="3000" b="1">
                <a:solidFill>
                  <a:srgbClr val="1A1A1A"/>
                </a:solidFill>
                <a:latin typeface="Arial"/>
              </a:rPr>
              <a:t>DuckDB's virtual file system</a:t>
            </a:r>
          </a:p>
        </p:txBody>
      </p:sp>
      <p:sp>
        <p:nvSpPr>
          <p:cNvPr id="3" name="TextBox 2"/>
          <p:cNvSpPr txBox="1"/>
          <p:nvPr/>
        </p:nvSpPr>
        <p:spPr>
          <a:xfrm>
            <a:off x="600000" y="1400000"/>
            <a:ext cx="11000000" cy="5058000"/>
          </a:xfrm>
          <a:prstGeom prst="rect">
            <a:avLst/>
          </a:prstGeom>
          <a:noFill/>
        </p:spPr>
        <p:txBody>
          <a:bodyPr wrap="square">
            <a:spAutoFit/>
          </a:bodyPr>
          <a:lstStyle/>
          <a:p>
            <a:pPr>
              <a:spcAft>
                <a:spcPts val="1000"/>
              </a:spcAft>
            </a:pPr>
            <a:r>
              <a:rPr sz="2000">
                <a:solidFill>
                  <a:srgbClr val="1A1A1A"/>
                </a:solidFill>
                <a:latin typeface="Arial"/>
              </a:rPr>
              <a:t>• Every file operation goes through a FileSystem abstraction</a:t>
            </a:r>
          </a:p>
          <a:p>
            <a:pPr>
              <a:spcAft>
                <a:spcPts val="1000"/>
              </a:spcAft>
            </a:pPr>
            <a:r>
              <a:rPr sz="2000">
                <a:solidFill>
                  <a:srgbClr val="1A1A1A"/>
                </a:solidFill>
                <a:latin typeface="Arial"/>
              </a:rPr>
              <a:t>• Parquet reader, CSV reader, buffer manager: all above it</a:t>
            </a:r>
          </a:p>
          <a:p>
            <a:pPr>
              <a:spcAft>
                <a:spcPts val="1000"/>
              </a:spcAft>
            </a:pPr>
            <a:r>
              <a:rPr sz="2000">
                <a:solidFill>
                  <a:srgbClr val="1A1A1A"/>
                </a:solidFill>
                <a:latin typeface="Arial"/>
              </a:rPr>
              <a:t>• httpfs = an alternative FileSystem implementation</a:t>
            </a:r>
          </a:p>
          <a:p>
            <a:pPr>
              <a:spcAft>
                <a:spcPts val="1000"/>
              </a:spcAft>
            </a:pPr>
            <a:r>
              <a:rPr sz="2000">
                <a:solidFill>
                  <a:srgbClr val="1A1A1A"/>
                </a:solidFill>
                <a:latin typeface="Arial"/>
              </a:rPr>
              <a:t>• If httpfs can inject a file system... can I inject Go?</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0000" y="350000"/>
            <a:ext cx="11000000" cy="800000"/>
          </a:xfrm>
          <a:prstGeom prst="rect">
            <a:avLst/>
          </a:prstGeom>
          <a:noFill/>
        </p:spPr>
        <p:txBody>
          <a:bodyPr wrap="square">
            <a:spAutoFit/>
          </a:bodyPr>
          <a:lstStyle/>
          <a:p>
            <a:r>
              <a:rPr sz="3000" b="1">
                <a:solidFill>
                  <a:srgbClr val="1A1A1A"/>
                </a:solidFill>
                <a:latin typeface="Arial"/>
              </a:rPr>
              <a:t>io/fs: Go's virtual file system</a:t>
            </a:r>
          </a:p>
        </p:txBody>
      </p:sp>
      <p:sp>
        <p:nvSpPr>
          <p:cNvPr id="3" name="Rectangle 2"/>
          <p:cNvSpPr/>
          <p:nvPr/>
        </p:nvSpPr>
        <p:spPr>
          <a:xfrm>
            <a:off x="700000" y="1350000"/>
            <a:ext cx="10800000" cy="294800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wrap="none" lIns="300000" rIns="300000" tIns="200000" bIns="200000"/>
          <a:lstStyle/>
          <a:p>
            <a:pPr algn="l"/>
            <a:r>
              <a:rPr sz="1600">
                <a:solidFill>
                  <a:srgbClr val="E6E6E6"/>
                </a:solidFill>
                <a:latin typeface="Courier New"/>
              </a:rPr>
              <a:t>type FS interface {</a:t>
            </a:r>
          </a:p>
          <a:p>
            <a:pPr algn="l"/>
            <a:r>
              <a:rPr sz="1600">
                <a:solidFill>
                  <a:srgbClr val="E6E6E6"/>
                </a:solidFill>
                <a:latin typeface="Courier New"/>
              </a:rPr>
              <a:t>	Open(name string) (File, error)</a:t>
            </a:r>
          </a:p>
          <a:p>
            <a:pPr algn="l"/>
            <a:r>
              <a:rPr sz="1600">
                <a:solidFill>
                  <a:srgbClr val="E6E6E6"/>
                </a:solidFill>
                <a:latin typeface="Courier New"/>
              </a:rPr>
              <a:t>}</a:t>
            </a:r>
          </a:p>
          <a:p>
            <a:pPr algn="l"/>
            <a:r>
              <a:rPr sz="1600">
                <a:solidFill>
                  <a:srgbClr val="E6E6E6"/>
                </a:solidFill>
                <a:latin typeface="Courier New"/>
              </a:rPr>
              <a:t> </a:t>
            </a:r>
          </a:p>
          <a:p>
            <a:pPr algn="l"/>
            <a:r>
              <a:rPr sz="1600">
                <a:solidFill>
                  <a:srgbClr val="E6E6E6"/>
                </a:solidFill>
                <a:latin typeface="Courier New"/>
              </a:rPr>
              <a:t>type File interface {</a:t>
            </a:r>
          </a:p>
          <a:p>
            <a:pPr algn="l"/>
            <a:r>
              <a:rPr sz="1600">
                <a:solidFill>
                  <a:srgbClr val="E6E6E6"/>
                </a:solidFill>
                <a:latin typeface="Courier New"/>
              </a:rPr>
              <a:t>	Stat() (FileInfo, error)</a:t>
            </a:r>
          </a:p>
          <a:p>
            <a:pPr algn="l"/>
            <a:r>
              <a:rPr sz="1600">
                <a:solidFill>
                  <a:srgbClr val="E6E6E6"/>
                </a:solidFill>
                <a:latin typeface="Courier New"/>
              </a:rPr>
              <a:t>	Read([]byte) (int, error)</a:t>
            </a:r>
          </a:p>
          <a:p>
            <a:pPr algn="l"/>
            <a:r>
              <a:rPr sz="1600">
                <a:solidFill>
                  <a:srgbClr val="E6E6E6"/>
                </a:solidFill>
                <a:latin typeface="Courier New"/>
              </a:rPr>
              <a:t>	Close() error</a:t>
            </a:r>
          </a:p>
          <a:p>
            <a:pPr algn="l"/>
            <a:r>
              <a:rPr sz="1600">
                <a:solidFill>
                  <a:srgbClr val="E6E6E6"/>
                </a:solidFill>
                <a:latin typeface="Courier New"/>
              </a:rPr>
              <a: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0000" y="350000"/>
            <a:ext cx="11000000" cy="800000"/>
          </a:xfrm>
          <a:prstGeom prst="rect">
            <a:avLst/>
          </a:prstGeom>
          <a:noFill/>
        </p:spPr>
        <p:txBody>
          <a:bodyPr wrap="square">
            <a:spAutoFit/>
          </a:bodyPr>
          <a:lstStyle/>
          <a:p>
            <a:r>
              <a:rPr sz="3000" b="1">
                <a:solidFill>
                  <a:srgbClr val="1A1A1A"/>
                </a:solidFill>
                <a:latin typeface="Arial"/>
              </a:rPr>
              <a:t>github.com/firetiger-oss/go-duckfs</a:t>
            </a:r>
          </a:p>
        </p:txBody>
      </p:sp>
      <p:sp>
        <p:nvSpPr>
          <p:cNvPr id="3" name="Rectangle 2"/>
          <p:cNvSpPr/>
          <p:nvPr/>
        </p:nvSpPr>
        <p:spPr>
          <a:xfrm>
            <a:off x="700000" y="1350000"/>
            <a:ext cx="10800000" cy="279500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wrap="none" lIns="300000" rIns="300000" tIns="200000" bIns="200000"/>
          <a:lstStyle/>
          <a:p>
            <a:pPr algn="l"/>
            <a:r>
              <a:rPr sz="1500">
                <a:solidFill>
                  <a:srgbClr val="E6E6E6"/>
                </a:solidFill>
                <a:latin typeface="Courier New"/>
              </a:rPr>
              <a:t>c, err := duckfs.Open("", nil, os.DirFS("testdata"))</a:t>
            </a:r>
          </a:p>
          <a:p>
            <a:pPr algn="l"/>
            <a:r>
              <a:rPr sz="1500">
                <a:solidFill>
                  <a:srgbClr val="E6E6E6"/>
                </a:solidFill>
                <a:latin typeface="Courier New"/>
              </a:rPr>
              <a:t>if err != nil {</a:t>
            </a:r>
          </a:p>
          <a:p>
            <a:pPr algn="l"/>
            <a:r>
              <a:rPr sz="1500">
                <a:solidFill>
                  <a:srgbClr val="E6E6E6"/>
                </a:solidFill>
                <a:latin typeface="Courier New"/>
              </a:rPr>
              <a:t>	log.Fatal(err)</a:t>
            </a:r>
          </a:p>
          <a:p>
            <a:pPr algn="l"/>
            <a:r>
              <a:rPr sz="1500">
                <a:solidFill>
                  <a:srgbClr val="E6E6E6"/>
                </a:solidFill>
                <a:latin typeface="Courier New"/>
              </a:rPr>
              <a:t>}</a:t>
            </a:r>
          </a:p>
          <a:p>
            <a:pPr algn="l"/>
            <a:r>
              <a:rPr sz="1500">
                <a:solidFill>
                  <a:srgbClr val="E6E6E6"/>
                </a:solidFill>
                <a:latin typeface="Courier New"/>
              </a:rPr>
              <a:t> </a:t>
            </a:r>
          </a:p>
          <a:p>
            <a:pPr algn="l"/>
            <a:r>
              <a:rPr sz="1500">
                <a:solidFill>
                  <a:srgbClr val="E6E6E6"/>
                </a:solidFill>
                <a:latin typeface="Courier New"/>
              </a:rPr>
              <a:t>db := sql.OpenDB(c)</a:t>
            </a:r>
          </a:p>
          <a:p>
            <a:pPr algn="l"/>
            <a:r>
              <a:rPr sz="1500">
                <a:solidFill>
                  <a:srgbClr val="E6E6E6"/>
                </a:solidFill>
                <a:latin typeface="Courier New"/>
              </a:rPr>
              <a:t>defer db.Close()</a:t>
            </a:r>
          </a:p>
          <a:p>
            <a:pPr algn="l"/>
            <a:r>
              <a:rPr sz="1500">
                <a:solidFill>
                  <a:srgbClr val="E6E6E6"/>
                </a:solidFill>
                <a:latin typeface="Courier New"/>
              </a:rPr>
              <a:t> </a:t>
            </a:r>
          </a:p>
          <a:p>
            <a:pPr algn="l"/>
            <a:r>
              <a:rPr sz="1500">
                <a:solidFill>
                  <a:srgbClr val="E6E6E6"/>
                </a:solidFill>
                <a:latin typeface="Courier New"/>
              </a:rPr>
              <a:t>rows, err := db.Query(`SELECT * FROM read_parquet('data.parquet')`)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0000" y="350000"/>
            <a:ext cx="11000000" cy="800000"/>
          </a:xfrm>
          <a:prstGeom prst="rect">
            <a:avLst/>
          </a:prstGeom>
          <a:noFill/>
        </p:spPr>
        <p:txBody>
          <a:bodyPr wrap="square">
            <a:spAutoFit/>
          </a:bodyPr>
          <a:lstStyle/>
          <a:p>
            <a:r>
              <a:rPr sz="3000" b="1">
                <a:solidFill>
                  <a:srgbClr val="1A1A1A"/>
                </a:solidFill>
                <a:latin typeface="Arial"/>
              </a:rPr>
              <a:t>The bridge</a:t>
            </a:r>
          </a:p>
        </p:txBody>
      </p:sp>
      <p:sp>
        <p:nvSpPr>
          <p:cNvPr id="3" name="Rectangle 2"/>
          <p:cNvSpPr/>
          <p:nvPr/>
        </p:nvSpPr>
        <p:spPr>
          <a:xfrm>
            <a:off x="700000" y="1400000"/>
            <a:ext cx="10800000" cy="5058000"/>
          </a:xfrm>
          <a:prstGeom prst="rect">
            <a:avLst/>
          </a:prstGeom>
          <a:solidFill>
            <a:srgbClr val="F1F3F5"/>
          </a:solidFill>
          <a:ln w="12700">
            <a:solidFill>
              <a:srgbClr val="ADB5BD"/>
            </a:solidFill>
          </a:ln>
        </p:spPr>
        <p:style>
          <a:lnRef idx="1">
            <a:schemeClr val="accent1"/>
          </a:lnRef>
          <a:fillRef idx="3">
            <a:schemeClr val="accent1"/>
          </a:fillRef>
          <a:effectRef idx="2">
            <a:schemeClr val="accent1"/>
          </a:effectRef>
          <a:fontRef idx="minor">
            <a:schemeClr val="lt1"/>
          </a:fontRef>
        </p:style>
        <p:txBody>
          <a:bodyPr rtlCol="0" anchor="ctr" wrap="square" lIns="400000" rIns="400000"/>
          <a:lstStyle/>
          <a:p>
            <a:pPr algn="ctr"/>
            <a:r>
              <a:rPr sz="1600" i="1">
                <a:solidFill>
                  <a:srgbClr val="6B7280"/>
                </a:solidFill>
                <a:latin typeface="Arial"/>
              </a:rPr>
              <a:t>[DIAGRAM] DuckDB (C++) at the top, its virtual file system layer below it, the go-duckfs extension crossing the CGO boundary, and the fs.FS implementation at the bottom fanning out to os.DirFS, S3 client, GCS client, in-memory maps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0000" y="350000"/>
            <a:ext cx="11000000" cy="800000"/>
          </a:xfrm>
          <a:prstGeom prst="rect">
            <a:avLst/>
          </a:prstGeom>
          <a:noFill/>
        </p:spPr>
        <p:txBody>
          <a:bodyPr wrap="square">
            <a:spAutoFit/>
          </a:bodyPr>
          <a:lstStyle/>
          <a:p>
            <a:r>
              <a:rPr sz="3000" b="1">
                <a:solidFill>
                  <a:srgbClr val="1A1A1A"/>
                </a:solidFill>
                <a:latin typeface="Arial"/>
              </a:rPr>
              <a:t>What it buys us</a:t>
            </a:r>
          </a:p>
        </p:txBody>
      </p:sp>
      <p:sp>
        <p:nvSpPr>
          <p:cNvPr id="3" name="TextBox 2"/>
          <p:cNvSpPr txBox="1"/>
          <p:nvPr/>
        </p:nvSpPr>
        <p:spPr>
          <a:xfrm>
            <a:off x="600000" y="1400000"/>
            <a:ext cx="11000000" cy="5058000"/>
          </a:xfrm>
          <a:prstGeom prst="rect">
            <a:avLst/>
          </a:prstGeom>
          <a:noFill/>
        </p:spPr>
        <p:txBody>
          <a:bodyPr wrap="square">
            <a:spAutoFit/>
          </a:bodyPr>
          <a:lstStyle/>
          <a:p>
            <a:pPr>
              <a:spcAft>
                <a:spcPts val="1000"/>
              </a:spcAft>
            </a:pPr>
            <a:r>
              <a:rPr sz="2000">
                <a:solidFill>
                  <a:srgbClr val="1A1A1A"/>
                </a:solidFill>
                <a:latin typeface="Arial"/>
              </a:rPr>
              <a:t>• Sandboxing: DuckDB can only touch what we hand it</a:t>
            </a:r>
          </a:p>
          <a:p>
            <a:pPr>
              <a:spcAft>
                <a:spcPts val="1000"/>
              </a:spcAft>
            </a:pPr>
            <a:r>
              <a:rPr sz="2000">
                <a:solidFill>
                  <a:srgbClr val="1A1A1A"/>
                </a:solidFill>
                <a:latin typeface="Arial"/>
              </a:rPr>
              <a:t>• Observability: every byte traced with the request</a:t>
            </a:r>
          </a:p>
          <a:p>
            <a:pPr>
              <a:spcAft>
                <a:spcPts val="1000"/>
              </a:spcAft>
            </a:pPr>
            <a:r>
              <a:rPr sz="2000">
                <a:solidFill>
                  <a:srgbClr val="1A1A1A"/>
                </a:solidFill>
                <a:latin typeface="Arial"/>
              </a:rPr>
              <a:t>• Any backend: s3://, gs://, same clients, same credentials</a:t>
            </a:r>
          </a:p>
          <a:p>
            <a:pPr>
              <a:spcAft>
                <a:spcPts val="1000"/>
              </a:spcAft>
            </a:pPr>
            <a:r>
              <a:rPr sz="2000">
                <a:solidFill>
                  <a:srgbClr val="1A1A1A"/>
                </a:solidFill>
                <a:latin typeface="Arial"/>
              </a:rPr>
              <a:t>• Caching: wrap the fs.FS with a page cache, in plain Go</a:t>
            </a:r>
          </a:p>
          <a:p>
            <a:pPr>
              <a:spcAft>
                <a:spcPts val="1000"/>
              </a:spcAft>
            </a:pPr>
            <a:r>
              <a:rPr sz="2000">
                <a:solidFill>
                  <a:srgbClr val="1A1A1A"/>
                </a:solidFill>
                <a:latin typeface="Arial"/>
              </a:rPr>
              <a:t>• Testing: full engine against fstest.MapFS, no fixtures</a:t>
            </a:r>
          </a:p>
          <a:p>
            <a:pPr>
              <a:spcAft>
                <a:spcPts val="1000"/>
              </a:spcAft>
            </a:pPr>
            <a:r>
              <a:rPr sz="2000">
                <a:solidFill>
                  <a:srgbClr val="1A1A1A"/>
                </a:solidFill>
                <a:latin typeface="Arial"/>
              </a:rPr>
              <a:t>• Security: C++ reduced to pure compute, all I/O in Go</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00000" y="2800000"/>
            <a:ext cx="10400000" cy="1200000"/>
          </a:xfrm>
          <a:prstGeom prst="rect">
            <a:avLst/>
          </a:prstGeom>
          <a:noFill/>
        </p:spPr>
        <p:txBody>
          <a:bodyPr wrap="square">
            <a:spAutoFit/>
          </a:bodyPr>
          <a:lstStyle/>
          <a:p>
            <a:pPr algn="ctr"/>
            <a:r>
              <a:rPr sz="3600" b="1">
                <a:solidFill>
                  <a:srgbClr val="E8590C"/>
                </a:solidFill>
                <a:latin typeface="Arial"/>
              </a:rPr>
              <a:t>Part 2 — Inside go-duckfs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0000" y="350000"/>
            <a:ext cx="11000000" cy="800000"/>
          </a:xfrm>
          <a:prstGeom prst="rect">
            <a:avLst/>
          </a:prstGeom>
          <a:noFill/>
        </p:spPr>
        <p:txBody>
          <a:bodyPr wrap="square">
            <a:spAutoFit/>
          </a:bodyPr>
          <a:lstStyle/>
          <a:p>
            <a:r>
              <a:rPr sz="3000" b="1">
                <a:solidFill>
                  <a:srgbClr val="1A1A1A"/>
                </a:solidFill>
                <a:latin typeface="Arial"/>
              </a:rPr>
              <a:t>What we're plugging into (C++)</a:t>
            </a:r>
          </a:p>
        </p:txBody>
      </p:sp>
      <p:sp>
        <p:nvSpPr>
          <p:cNvPr id="3" name="Rectangle 2"/>
          <p:cNvSpPr/>
          <p:nvPr/>
        </p:nvSpPr>
        <p:spPr>
          <a:xfrm>
            <a:off x="700000" y="1350000"/>
            <a:ext cx="10800000" cy="403600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wrap="none" lIns="300000" rIns="300000" tIns="200000" bIns="200000"/>
          <a:lstStyle/>
          <a:p>
            <a:pPr algn="l"/>
            <a:r>
              <a:rPr sz="1300">
                <a:solidFill>
                  <a:srgbClr val="E6E6E6"/>
                </a:solidFill>
                <a:latin typeface="Courier New"/>
              </a:rPr>
              <a:t>class FileSystem {</a:t>
            </a:r>
          </a:p>
          <a:p>
            <a:pPr algn="l"/>
            <a:r>
              <a:rPr sz="1300">
                <a:solidFill>
                  <a:srgbClr val="E6E6E6"/>
                </a:solidFill>
                <a:latin typeface="Courier New"/>
              </a:rPr>
              <a:t>public:</a:t>
            </a:r>
          </a:p>
          <a:p>
            <a:pPr algn="l"/>
            <a:r>
              <a:rPr sz="1300">
                <a:solidFill>
                  <a:srgbClr val="E6E6E6"/>
                </a:solidFill>
                <a:latin typeface="Courier New"/>
              </a:rPr>
              <a:t>	virtual unique_ptr&lt;FileHandle&gt; OpenFile(const string &amp;path,</a:t>
            </a:r>
          </a:p>
          <a:p>
            <a:pPr algn="l"/>
            <a:r>
              <a:rPr sz="1300">
                <a:solidFill>
                  <a:srgbClr val="E6E6E6"/>
                </a:solidFill>
                <a:latin typeface="Courier New"/>
              </a:rPr>
              <a:t>	                                        FileOpenFlags flags,</a:t>
            </a:r>
          </a:p>
          <a:p>
            <a:pPr algn="l"/>
            <a:r>
              <a:rPr sz="1300">
                <a:solidFill>
                  <a:srgbClr val="E6E6E6"/>
                </a:solidFill>
                <a:latin typeface="Courier New"/>
              </a:rPr>
              <a:t>	                                        optional_ptr&lt;FileOpener&gt; opener);</a:t>
            </a:r>
          </a:p>
          <a:p>
            <a:pPr algn="l"/>
            <a:r>
              <a:rPr sz="1300">
                <a:solidFill>
                  <a:srgbClr val="E6E6E6"/>
                </a:solidFill>
                <a:latin typeface="Courier New"/>
              </a:rPr>
              <a:t> </a:t>
            </a:r>
          </a:p>
          <a:p>
            <a:pPr algn="l"/>
            <a:r>
              <a:rPr sz="1300">
                <a:solidFill>
                  <a:srgbClr val="E6E6E6"/>
                </a:solidFill>
                <a:latin typeface="Courier New"/>
              </a:rPr>
              <a:t>	virtual void Read(FileHandle &amp;handle, void *buffer,</a:t>
            </a:r>
          </a:p>
          <a:p>
            <a:pPr algn="l"/>
            <a:r>
              <a:rPr sz="1300">
                <a:solidFill>
                  <a:srgbClr val="E6E6E6"/>
                </a:solidFill>
                <a:latin typeface="Courier New"/>
              </a:rPr>
              <a:t>	                  int64_t nr_bytes, idx_t location);</a:t>
            </a:r>
          </a:p>
          <a:p>
            <a:pPr algn="l"/>
            <a:r>
              <a:rPr sz="1300">
                <a:solidFill>
                  <a:srgbClr val="E6E6E6"/>
                </a:solidFill>
                <a:latin typeface="Courier New"/>
              </a:rPr>
              <a:t> </a:t>
            </a:r>
          </a:p>
          <a:p>
            <a:pPr algn="l"/>
            <a:r>
              <a:rPr sz="1300">
                <a:solidFill>
                  <a:srgbClr val="E6E6E6"/>
                </a:solidFill>
                <a:latin typeface="Courier New"/>
              </a:rPr>
              <a:t>	virtual int64_t GetFileSize(FileHandle &amp;handle);</a:t>
            </a:r>
          </a:p>
          <a:p>
            <a:pPr algn="l"/>
            <a:r>
              <a:rPr sz="1300">
                <a:solidFill>
                  <a:srgbClr val="E6E6E6"/>
                </a:solidFill>
                <a:latin typeface="Courier New"/>
              </a:rPr>
              <a:t> </a:t>
            </a:r>
          </a:p>
          <a:p>
            <a:pPr algn="l"/>
            <a:r>
              <a:rPr sz="1300">
                <a:solidFill>
                  <a:srgbClr val="E6E6E6"/>
                </a:solidFill>
                <a:latin typeface="Courier New"/>
              </a:rPr>
              <a:t>	virtual vector&lt;OpenFileInfo&gt; Glob(const string &amp;path,</a:t>
            </a:r>
          </a:p>
          <a:p>
            <a:pPr algn="l"/>
            <a:r>
              <a:rPr sz="1300">
                <a:solidFill>
                  <a:srgbClr val="E6E6E6"/>
                </a:solidFill>
                <a:latin typeface="Courier New"/>
              </a:rPr>
              <a:t>	                                  FileOpener *opener);</a:t>
            </a:r>
          </a:p>
          <a:p>
            <a:pPr algn="l"/>
            <a:r>
              <a:rPr sz="1300">
                <a:solidFill>
                  <a:srgbClr val="E6E6E6"/>
                </a:solidFill>
                <a:latin typeface="Courier New"/>
              </a:rPr>
              <a:t> </a:t>
            </a:r>
          </a:p>
          <a:p>
            <a:pPr algn="l"/>
            <a:r>
              <a:rPr sz="1300">
                <a:solidFill>
                  <a:srgbClr val="E6E6E6"/>
                </a:solidFill>
                <a:latin typeface="Courier New"/>
              </a:rPr>
              <a:t>	// ... and about twenty more virtual methods</a:t>
            </a:r>
          </a:p>
          <a:p>
            <a:pPr algn="l"/>
            <a:r>
              <a:rPr sz="1300">
                <a:solidFill>
                  <a:srgbClr val="E6E6E6"/>
                </a:solidFill>
                <a:latin typeface="Courier New"/>
              </a:rPr>
              <a: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0000" y="350000"/>
            <a:ext cx="11000000" cy="800000"/>
          </a:xfrm>
          <a:prstGeom prst="rect">
            <a:avLst/>
          </a:prstGeom>
          <a:noFill/>
        </p:spPr>
        <p:txBody>
          <a:bodyPr wrap="square">
            <a:spAutoFit/>
          </a:bodyPr>
          <a:lstStyle/>
          <a:p>
            <a:r>
              <a:rPr sz="3000" b="1">
                <a:solidFill>
                  <a:srgbClr val="1A1A1A"/>
                </a:solidFill>
                <a:latin typeface="Arial"/>
              </a:rPr>
              <a:t>CGO does not speak C++</a:t>
            </a:r>
          </a:p>
        </p:txBody>
      </p:sp>
      <p:sp>
        <p:nvSpPr>
          <p:cNvPr id="3" name="Rectangle 2"/>
          <p:cNvSpPr/>
          <p:nvPr/>
        </p:nvSpPr>
        <p:spPr>
          <a:xfrm>
            <a:off x="700000" y="1400000"/>
            <a:ext cx="10800000" cy="5058000"/>
          </a:xfrm>
          <a:prstGeom prst="rect">
            <a:avLst/>
          </a:prstGeom>
          <a:solidFill>
            <a:srgbClr val="F1F3F5"/>
          </a:solidFill>
          <a:ln w="12700">
            <a:solidFill>
              <a:srgbClr val="ADB5BD"/>
            </a:solidFill>
          </a:ln>
        </p:spPr>
        <p:style>
          <a:lnRef idx="1">
            <a:schemeClr val="accent1"/>
          </a:lnRef>
          <a:fillRef idx="3">
            <a:schemeClr val="accent1"/>
          </a:fillRef>
          <a:effectRef idx="2">
            <a:schemeClr val="accent1"/>
          </a:effectRef>
          <a:fontRef idx="minor">
            <a:schemeClr val="lt1"/>
          </a:fontRef>
        </p:style>
        <p:txBody>
          <a:bodyPr rtlCol="0" anchor="ctr" wrap="square" lIns="400000" rIns="400000"/>
          <a:lstStyle/>
          <a:p>
            <a:pPr algn="ctr"/>
            <a:r>
              <a:rPr sz="1600" i="1">
                <a:solidFill>
                  <a:srgbClr val="6B7280"/>
                </a:solidFill>
                <a:latin typeface="Arial"/>
              </a:rPr>
              <a:t>[DIAGRAM] the three-layer bridge — DuckDB core calls virtual methods on GoFileSystem (C++); GoFileSystem calls plain extern "C" functions (duckfs_file_open, duckfs_file_read_at, ...); those functions are implemented in Go with //export and call into the fs.FS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0000" y="350000"/>
            <a:ext cx="11000000" cy="800000"/>
          </a:xfrm>
          <a:prstGeom prst="rect">
            <a:avLst/>
          </a:prstGeom>
          <a:noFill/>
        </p:spPr>
        <p:txBody>
          <a:bodyPr wrap="square">
            <a:spAutoFit/>
          </a:bodyPr>
          <a:lstStyle/>
          <a:p>
            <a:r>
              <a:rPr sz="3000" b="1">
                <a:solidFill>
                  <a:srgbClr val="1A1A1A"/>
                </a:solidFill>
                <a:latin typeface="Arial"/>
              </a:rPr>
              <a:t>The C functions we wish existed</a:t>
            </a:r>
          </a:p>
        </p:txBody>
      </p:sp>
      <p:sp>
        <p:nvSpPr>
          <p:cNvPr id="3" name="Rectangle 2"/>
          <p:cNvSpPr/>
          <p:nvPr/>
        </p:nvSpPr>
        <p:spPr>
          <a:xfrm>
            <a:off x="700000" y="1350000"/>
            <a:ext cx="10800000" cy="478400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wrap="none" lIns="300000" rIns="300000" tIns="200000" bIns="200000"/>
          <a:lstStyle/>
          <a:p>
            <a:pPr algn="l"/>
            <a:r>
              <a:rPr sz="1200">
                <a:solidFill>
                  <a:srgbClr val="E6E6E6"/>
                </a:solidFill>
                <a:latin typeface="Courier New"/>
              </a:rPr>
              <a:t>extern "C" {</a:t>
            </a:r>
          </a:p>
          <a:p>
            <a:pPr algn="l"/>
            <a:r>
              <a:rPr sz="1200">
                <a:solidFill>
                  <a:srgbClr val="E6E6E6"/>
                </a:solidFill>
                <a:latin typeface="Courier New"/>
              </a:rPr>
              <a:t>	int     duckfs_file_open(int id, const char *path);</a:t>
            </a:r>
          </a:p>
          <a:p>
            <a:pPr algn="l"/>
            <a:r>
              <a:rPr sz="1200">
                <a:solidFill>
                  <a:srgbClr val="E6E6E6"/>
                </a:solidFill>
                <a:latin typeface="Courier New"/>
              </a:rPr>
              <a:t>	int64_t duckfs_file_size(int id);</a:t>
            </a:r>
          </a:p>
          <a:p>
            <a:pPr algn="l"/>
            <a:r>
              <a:rPr sz="1200">
                <a:solidFill>
                  <a:srgbClr val="E6E6E6"/>
                </a:solidFill>
                <a:latin typeface="Courier New"/>
              </a:rPr>
              <a:t>	int64_t duckfs_file_read_at(int id, void *buf,</a:t>
            </a:r>
          </a:p>
          <a:p>
            <a:pPr algn="l"/>
            <a:r>
              <a:rPr sz="1200">
                <a:solidFill>
                  <a:srgbClr val="E6E6E6"/>
                </a:solidFill>
                <a:latin typeface="Courier New"/>
              </a:rPr>
              <a:t>	                            int64_t size, int64_t off);</a:t>
            </a:r>
          </a:p>
          <a:p>
            <a:pPr algn="l"/>
            <a:r>
              <a:rPr sz="1200">
                <a:solidFill>
                  <a:srgbClr val="E6E6E6"/>
                </a:solidFill>
                <a:latin typeface="Courier New"/>
              </a:rPr>
              <a:t>	int     duckfs_file_close(int id);</a:t>
            </a:r>
          </a:p>
          <a:p>
            <a:pPr algn="l"/>
            <a:r>
              <a:rPr sz="1200">
                <a:solidFill>
                  <a:srgbClr val="E6E6E6"/>
                </a:solidFill>
                <a:latin typeface="Courier New"/>
              </a:rPr>
              <a:t>	char   *duckfs_glob(int id, const char *pattern);</a:t>
            </a:r>
          </a:p>
          <a:p>
            <a:pPr algn="l"/>
            <a:r>
              <a:rPr sz="1200">
                <a:solidFill>
                  <a:srgbClr val="E6E6E6"/>
                </a:solidFill>
                <a:latin typeface="Courier New"/>
              </a:rPr>
              <a:t>	// ...</a:t>
            </a:r>
          </a:p>
          <a:p>
            <a:pPr algn="l"/>
            <a:r>
              <a:rPr sz="1200">
                <a:solidFill>
                  <a:srgbClr val="E6E6E6"/>
                </a:solidFill>
                <a:latin typeface="Courier New"/>
              </a:rPr>
              <a:t>}</a:t>
            </a:r>
          </a:p>
          <a:p>
            <a:pPr algn="l"/>
            <a:r>
              <a:rPr sz="1200">
                <a:solidFill>
                  <a:srgbClr val="E6E6E6"/>
                </a:solidFill>
                <a:latin typeface="Courier New"/>
              </a:rPr>
              <a:t> </a:t>
            </a:r>
          </a:p>
          <a:p>
            <a:pPr algn="l"/>
            <a:r>
              <a:rPr sz="1200">
                <a:solidFill>
                  <a:srgbClr val="E6E6E6"/>
                </a:solidFill>
                <a:latin typeface="Courier New"/>
              </a:rPr>
              <a:t>class GoFileSystem : public FileSystem {</a:t>
            </a:r>
          </a:p>
          <a:p>
            <a:pPr algn="l"/>
            <a:r>
              <a:rPr sz="1200">
                <a:solidFill>
                  <a:srgbClr val="E6E6E6"/>
                </a:solidFill>
                <a:latin typeface="Courier New"/>
              </a:rPr>
              <a:t>	void Read(FileHandle &amp;handle, void *buf,</a:t>
            </a:r>
          </a:p>
          <a:p>
            <a:pPr algn="l"/>
            <a:r>
              <a:rPr sz="1200">
                <a:solidFill>
                  <a:srgbClr val="E6E6E6"/>
                </a:solidFill>
                <a:latin typeface="Courier New"/>
              </a:rPr>
              <a:t>	          int64_t size, idx_t off) override {</a:t>
            </a:r>
          </a:p>
          <a:p>
            <a:pPr algn="l"/>
            <a:r>
              <a:rPr sz="1200">
                <a:solidFill>
                  <a:srgbClr val="E6E6E6"/>
                </a:solidFill>
                <a:latin typeface="Courier New"/>
              </a:rPr>
              <a:t>		auto f = dynamic_cast&lt;GoFileHandle*&gt;(&amp;handle);</a:t>
            </a:r>
          </a:p>
          <a:p>
            <a:pPr algn="l"/>
            <a:r>
              <a:rPr sz="1200">
                <a:solidFill>
                  <a:srgbClr val="E6E6E6"/>
                </a:solidFill>
                <a:latin typeface="Courier New"/>
              </a:rPr>
              <a:t>		auto n = duckfs_file_read_at(f-&gt;id, buf, size, off);</a:t>
            </a:r>
          </a:p>
          <a:p>
            <a:pPr algn="l"/>
            <a:r>
              <a:rPr sz="1200">
                <a:solidFill>
                  <a:srgbClr val="E6E6E6"/>
                </a:solidFill>
                <a:latin typeface="Courier New"/>
              </a:rPr>
              <a:t>		if (n &lt; 0) {</a:t>
            </a:r>
          </a:p>
          <a:p>
            <a:pPr algn="l"/>
            <a:r>
              <a:rPr sz="1200">
                <a:solidFill>
                  <a:srgbClr val="E6E6E6"/>
                </a:solidFill>
                <a:latin typeface="Courier New"/>
              </a:rPr>
              <a:t>			throw IOException("failed to read: " + handle.GetPath());</a:t>
            </a:r>
          </a:p>
          <a:p>
            <a:pPr algn="l"/>
            <a:r>
              <a:rPr sz="1200">
                <a:solidFill>
                  <a:srgbClr val="E6E6E6"/>
                </a:solidFill>
                <a:latin typeface="Courier New"/>
              </a:rPr>
              <a:t>		}</a:t>
            </a:r>
          </a:p>
          <a:p>
            <a:pPr algn="l"/>
            <a:r>
              <a:rPr sz="1200">
                <a:solidFill>
                  <a:srgbClr val="E6E6E6"/>
                </a:solidFill>
                <a:latin typeface="Courier New"/>
              </a:rPr>
              <a:t>	}</a:t>
            </a:r>
          </a:p>
          <a:p>
            <a:pPr algn="l"/>
            <a:r>
              <a:rPr sz="1200">
                <a:solidFill>
                  <a:srgbClr val="E6E6E6"/>
                </a:solidFill>
                <a:latin typeface="Courier New"/>
              </a:rPr>
              <a:t>	// every other method looks just like this</a:t>
            </a:r>
          </a:p>
          <a:p>
            <a:pPr algn="l"/>
            <a:r>
              <a:rPr sz="1200">
                <a:solidFill>
                  <a:srgbClr val="E6E6E6"/>
                </a:solidFill>
                <a:latin typeface="Courier New"/>
              </a:rPr>
              <a: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0000" y="350000"/>
            <a:ext cx="11000000" cy="800000"/>
          </a:xfrm>
          <a:prstGeom prst="rect">
            <a:avLst/>
          </a:prstGeom>
          <a:noFill/>
        </p:spPr>
        <p:txBody>
          <a:bodyPr wrap="square">
            <a:spAutoFit/>
          </a:bodyPr>
          <a:lstStyle/>
          <a:p>
            <a:r>
              <a:rPr sz="3000" b="1">
                <a:solidFill>
                  <a:srgbClr val="1A1A1A"/>
                </a:solidFill>
                <a:latin typeface="Arial"/>
              </a:rPr>
              <a:t>//export: C calls Go</a:t>
            </a:r>
          </a:p>
        </p:txBody>
      </p:sp>
      <p:sp>
        <p:nvSpPr>
          <p:cNvPr id="3" name="Rectangle 2"/>
          <p:cNvSpPr/>
          <p:nvPr/>
        </p:nvSpPr>
        <p:spPr>
          <a:xfrm>
            <a:off x="700000" y="1350000"/>
            <a:ext cx="10800000" cy="469900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wrap="none" lIns="300000" rIns="300000" tIns="200000" bIns="200000"/>
          <a:lstStyle/>
          <a:p>
            <a:pPr algn="l"/>
            <a:r>
              <a:rPr sz="1300">
                <a:solidFill>
                  <a:srgbClr val="E6E6E6"/>
                </a:solidFill>
                <a:latin typeface="Courier New"/>
              </a:rPr>
              <a:t>//export duckfs_file_read_at</a:t>
            </a:r>
          </a:p>
          <a:p>
            <a:pPr algn="l"/>
            <a:r>
              <a:rPr sz="1300">
                <a:solidFill>
                  <a:srgbClr val="E6E6E6"/>
                </a:solidFill>
                <a:latin typeface="Courier New"/>
              </a:rPr>
              <a:t>func duckfs_file_read_at(id C.int, buf unsafe.Pointer,</a:t>
            </a:r>
          </a:p>
          <a:p>
            <a:pPr algn="l"/>
            <a:r>
              <a:rPr sz="1300">
                <a:solidFill>
                  <a:srgbClr val="E6E6E6"/>
                </a:solidFill>
                <a:latin typeface="Courier New"/>
              </a:rPr>
              <a:t>	size, off C.int64_t) C.int64_t {</a:t>
            </a:r>
          </a:p>
          <a:p>
            <a:pPr algn="l"/>
            <a:r>
              <a:rPr sz="1300">
                <a:solidFill>
                  <a:srgbClr val="E6E6E6"/>
                </a:solidFill>
                <a:latin typeface="Courier New"/>
              </a:rPr>
              <a:t> </a:t>
            </a:r>
          </a:p>
          <a:p>
            <a:pPr algn="l"/>
            <a:r>
              <a:rPr sz="1300">
                <a:solidFill>
                  <a:srgbClr val="E6E6E6"/>
                </a:solidFill>
                <a:latin typeface="Courier New"/>
              </a:rPr>
              <a:t>	f, ok := globalFiles.lookup(int32(id))</a:t>
            </a:r>
          </a:p>
          <a:p>
            <a:pPr algn="l"/>
            <a:r>
              <a:rPr sz="1300">
                <a:solidFill>
                  <a:srgbClr val="E6E6E6"/>
                </a:solidFill>
                <a:latin typeface="Courier New"/>
              </a:rPr>
              <a:t>	if !ok {</a:t>
            </a:r>
          </a:p>
          <a:p>
            <a:pPr algn="l"/>
            <a:r>
              <a:rPr sz="1300">
                <a:solidFill>
                  <a:srgbClr val="E6E6E6"/>
                </a:solidFill>
                <a:latin typeface="Courier New"/>
              </a:rPr>
              <a:t>		return -1</a:t>
            </a:r>
          </a:p>
          <a:p>
            <a:pPr algn="l"/>
            <a:r>
              <a:rPr sz="1300">
                <a:solidFill>
                  <a:srgbClr val="E6E6E6"/>
                </a:solidFill>
                <a:latin typeface="Courier New"/>
              </a:rPr>
              <a:t>	}</a:t>
            </a:r>
          </a:p>
          <a:p>
            <a:pPr algn="l"/>
            <a:r>
              <a:rPr sz="1300">
                <a:solidFill>
                  <a:srgbClr val="E6E6E6"/>
                </a:solidFill>
                <a:latin typeface="Courier New"/>
              </a:rPr>
              <a:t>	r, ok := f.(io.ReaderAt)</a:t>
            </a:r>
          </a:p>
          <a:p>
            <a:pPr algn="l"/>
            <a:r>
              <a:rPr sz="1300">
                <a:solidFill>
                  <a:srgbClr val="E6E6E6"/>
                </a:solidFill>
                <a:latin typeface="Courier New"/>
              </a:rPr>
              <a:t>	if !ok {</a:t>
            </a:r>
          </a:p>
          <a:p>
            <a:pPr algn="l"/>
            <a:r>
              <a:rPr sz="1300">
                <a:solidFill>
                  <a:srgbClr val="E6E6E6"/>
                </a:solidFill>
                <a:latin typeface="Courier New"/>
              </a:rPr>
              <a:t>		return -1</a:t>
            </a:r>
          </a:p>
          <a:p>
            <a:pPr algn="l"/>
            <a:r>
              <a:rPr sz="1300">
                <a:solidFill>
                  <a:srgbClr val="E6E6E6"/>
                </a:solidFill>
                <a:latin typeface="Courier New"/>
              </a:rPr>
              <a:t>	}</a:t>
            </a:r>
          </a:p>
          <a:p>
            <a:pPr algn="l"/>
            <a:r>
              <a:rPr sz="1300">
                <a:solidFill>
                  <a:srgbClr val="E6E6E6"/>
                </a:solidFill>
                <a:latin typeface="Courier New"/>
              </a:rPr>
              <a:t>	buffer := unsafe.Slice((*byte)(buf), size)</a:t>
            </a:r>
          </a:p>
          <a:p>
            <a:pPr algn="l"/>
            <a:r>
              <a:rPr sz="1300">
                <a:solidFill>
                  <a:srgbClr val="E6E6E6"/>
                </a:solidFill>
                <a:latin typeface="Courier New"/>
              </a:rPr>
              <a:t>	n, err := r.ReadAt(buffer, int64(off))</a:t>
            </a:r>
          </a:p>
          <a:p>
            <a:pPr algn="l"/>
            <a:r>
              <a:rPr sz="1300">
                <a:solidFill>
                  <a:srgbClr val="E6E6E6"/>
                </a:solidFill>
                <a:latin typeface="Courier New"/>
              </a:rPr>
              <a:t>	if err != nil &amp;&amp; n == 0 {</a:t>
            </a:r>
          </a:p>
          <a:p>
            <a:pPr algn="l"/>
            <a:r>
              <a:rPr sz="1300">
                <a:solidFill>
                  <a:srgbClr val="E6E6E6"/>
                </a:solidFill>
                <a:latin typeface="Courier New"/>
              </a:rPr>
              <a:t>		return -1</a:t>
            </a:r>
          </a:p>
          <a:p>
            <a:pPr algn="l"/>
            <a:r>
              <a:rPr sz="1300">
                <a:solidFill>
                  <a:srgbClr val="E6E6E6"/>
                </a:solidFill>
                <a:latin typeface="Courier New"/>
              </a:rPr>
              <a:t>	}</a:t>
            </a:r>
          </a:p>
          <a:p>
            <a:pPr algn="l"/>
            <a:r>
              <a:rPr sz="1300">
                <a:solidFill>
                  <a:srgbClr val="E6E6E6"/>
                </a:solidFill>
                <a:latin typeface="Courier New"/>
              </a:rPr>
              <a:t>	return C.int64_t(n)</a:t>
            </a:r>
          </a:p>
          <a:p>
            <a:pPr algn="l"/>
            <a:r>
              <a:rPr sz="1300">
                <a:solidFill>
                  <a:srgbClr val="E6E6E6"/>
                </a:solidFill>
                <a:latin typeface="Courier New"/>
              </a:rPr>
              <a: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0000" y="350000"/>
            <a:ext cx="11000000" cy="800000"/>
          </a:xfrm>
          <a:prstGeom prst="rect">
            <a:avLst/>
          </a:prstGeom>
          <a:noFill/>
        </p:spPr>
        <p:txBody>
          <a:bodyPr wrap="square">
            <a:spAutoFit/>
          </a:bodyPr>
          <a:lstStyle/>
          <a:p>
            <a:r>
              <a:rPr sz="3000" b="1">
                <a:solidFill>
                  <a:srgbClr val="1A1A1A"/>
                </a:solidFill>
                <a:latin typeface="Arial"/>
              </a:rPr>
              <a:t>Registration</a:t>
            </a:r>
          </a:p>
        </p:txBody>
      </p:sp>
      <p:sp>
        <p:nvSpPr>
          <p:cNvPr id="3" name="Rectangle 2"/>
          <p:cNvSpPr/>
          <p:nvPr/>
        </p:nvSpPr>
        <p:spPr>
          <a:xfrm>
            <a:off x="700000" y="1350000"/>
            <a:ext cx="10800000" cy="216600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wrap="none" lIns="300000" rIns="300000" tIns="200000" bIns="200000"/>
          <a:lstStyle/>
          <a:p>
            <a:pPr algn="l"/>
            <a:r>
              <a:rPr sz="1400">
                <a:solidFill>
                  <a:srgbClr val="E6E6E6"/>
                </a:solidFill>
                <a:latin typeface="Courier New"/>
              </a:rPr>
              <a:t>duckdb_state duckfs_register_subsystem(duckdb_database database, int id) {</a:t>
            </a:r>
          </a:p>
          <a:p>
            <a:pPr algn="l"/>
            <a:r>
              <a:rPr sz="1400">
                <a:solidFill>
                  <a:srgbClr val="E6E6E6"/>
                </a:solidFill>
                <a:latin typeface="Courier New"/>
              </a:rPr>
              <a:t>	auto wrapper = reinterpret_cast&lt;duckdb::DatabaseWrapper *&gt;(database);</a:t>
            </a:r>
          </a:p>
          <a:p>
            <a:pPr algn="l"/>
            <a:r>
              <a:rPr sz="1400">
                <a:solidFill>
                  <a:srgbClr val="E6E6E6"/>
                </a:solidFill>
                <a:latin typeface="Courier New"/>
              </a:rPr>
              <a:t>	auto &amp;fs = duckdb::FileSystem::GetFileSystem(</a:t>
            </a:r>
          </a:p>
          <a:p>
            <a:pPr algn="l"/>
            <a:r>
              <a:rPr sz="1400">
                <a:solidFill>
                  <a:srgbClr val="E6E6E6"/>
                </a:solidFill>
                <a:latin typeface="Courier New"/>
              </a:rPr>
              <a:t>		*wrapper-&gt;database-&gt;instance.get());</a:t>
            </a:r>
          </a:p>
          <a:p>
            <a:pPr algn="l"/>
            <a:r>
              <a:rPr sz="1400">
                <a:solidFill>
                  <a:srgbClr val="E6E6E6"/>
                </a:solidFill>
                <a:latin typeface="Courier New"/>
              </a:rPr>
              <a:t>	fs.RegisterSubSystem(duckdb::make_uniq&lt;duckdb::GoFileSystem&gt;(id));</a:t>
            </a:r>
          </a:p>
          <a:p>
            <a:pPr algn="l"/>
            <a:r>
              <a:rPr sz="1400">
                <a:solidFill>
                  <a:srgbClr val="E6E6E6"/>
                </a:solidFill>
                <a:latin typeface="Courier New"/>
              </a:rPr>
              <a:t>	return DuckDBSuccess;</a:t>
            </a:r>
          </a:p>
          <a:p>
            <a:pPr algn="l"/>
            <a:r>
              <a:rPr sz="1400">
                <a:solidFill>
                  <a:srgbClr val="E6E6E6"/>
                </a:solidFill>
                <a:latin typeface="Courier New"/>
              </a:rPr>
              <a: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0000" y="350000"/>
            <a:ext cx="11000000" cy="800000"/>
          </a:xfrm>
          <a:prstGeom prst="rect">
            <a:avLst/>
          </a:prstGeom>
          <a:noFill/>
        </p:spPr>
        <p:txBody>
          <a:bodyPr wrap="square">
            <a:spAutoFit/>
          </a:bodyPr>
          <a:lstStyle/>
          <a:p>
            <a:r>
              <a:rPr sz="3000" b="1">
                <a:solidFill>
                  <a:srgbClr val="1A1A1A"/>
                </a:solidFill>
                <a:latin typeface="Arial"/>
              </a:rPr>
              <a:t>No Go pointer ever crosses the line</a:t>
            </a:r>
          </a:p>
        </p:txBody>
      </p:sp>
      <p:sp>
        <p:nvSpPr>
          <p:cNvPr id="3" name="Rectangle 2"/>
          <p:cNvSpPr/>
          <p:nvPr/>
        </p:nvSpPr>
        <p:spPr>
          <a:xfrm>
            <a:off x="700000" y="1350000"/>
            <a:ext cx="10800000" cy="359400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wrap="none" lIns="300000" rIns="300000" tIns="200000" bIns="200000"/>
          <a:lstStyle/>
          <a:p>
            <a:pPr algn="l"/>
            <a:r>
              <a:rPr sz="1400">
                <a:solidFill>
                  <a:srgbClr val="E6E6E6"/>
                </a:solidFill>
                <a:latin typeface="Courier New"/>
              </a:rPr>
              <a:t>type filemap[T comparable] struct {</a:t>
            </a:r>
          </a:p>
          <a:p>
            <a:pPr algn="l"/>
            <a:r>
              <a:rPr sz="1400">
                <a:solidFill>
                  <a:srgbClr val="E6E6E6"/>
                </a:solidFill>
                <a:latin typeface="Courier New"/>
              </a:rPr>
              <a:t>	mutex sync.RWMutex</a:t>
            </a:r>
          </a:p>
          <a:p>
            <a:pPr algn="l"/>
            <a:r>
              <a:rPr sz="1400">
                <a:solidFill>
                  <a:srgbClr val="E6E6E6"/>
                </a:solidFill>
                <a:latin typeface="Courier New"/>
              </a:rPr>
              <a:t>	files []T</a:t>
            </a:r>
          </a:p>
          <a:p>
            <a:pPr algn="l"/>
            <a:r>
              <a:rPr sz="1400">
                <a:solidFill>
                  <a:srgbClr val="E6E6E6"/>
                </a:solidFill>
                <a:latin typeface="Courier New"/>
              </a:rPr>
              <a:t>}</a:t>
            </a:r>
          </a:p>
          <a:p>
            <a:pPr algn="l"/>
            <a:r>
              <a:rPr sz="1400">
                <a:solidFill>
                  <a:srgbClr val="E6E6E6"/>
                </a:solidFill>
                <a:latin typeface="Courier New"/>
              </a:rPr>
              <a:t> </a:t>
            </a:r>
          </a:p>
          <a:p>
            <a:pPr algn="l"/>
            <a:r>
              <a:rPr sz="1400">
                <a:solidFill>
                  <a:srgbClr val="E6E6E6"/>
                </a:solidFill>
                <a:latin typeface="Courier New"/>
              </a:rPr>
              <a:t>func (m *filemap[T]) register(f T) int32        // store, get an id</a:t>
            </a:r>
          </a:p>
          <a:p>
            <a:pPr algn="l"/>
            <a:r>
              <a:rPr sz="1400">
                <a:solidFill>
                  <a:srgbClr val="E6E6E6"/>
                </a:solidFill>
                <a:latin typeface="Courier New"/>
              </a:rPr>
              <a:t>func (m *filemap[T]) lookup(id int32) (T, bool) // resolve an id</a:t>
            </a:r>
          </a:p>
          <a:p>
            <a:pPr algn="l"/>
            <a:r>
              <a:rPr sz="1400">
                <a:solidFill>
                  <a:srgbClr val="E6E6E6"/>
                </a:solidFill>
                <a:latin typeface="Courier New"/>
              </a:rPr>
              <a:t>func (m *filemap[T]) unregister(id int32) (T, bool)</a:t>
            </a:r>
          </a:p>
          <a:p>
            <a:pPr algn="l"/>
            <a:r>
              <a:rPr sz="1400">
                <a:solidFill>
                  <a:srgbClr val="E6E6E6"/>
                </a:solidFill>
                <a:latin typeface="Courier New"/>
              </a:rPr>
              <a:t> </a:t>
            </a:r>
          </a:p>
          <a:p>
            <a:pPr algn="l"/>
            <a:r>
              <a:rPr sz="1400">
                <a:solidFill>
                  <a:srgbClr val="E6E6E6"/>
                </a:solidFill>
                <a:latin typeface="Courier New"/>
              </a:rPr>
              <a:t>var (</a:t>
            </a:r>
          </a:p>
          <a:p>
            <a:pPr algn="l"/>
            <a:r>
              <a:rPr sz="1400">
                <a:solidFill>
                  <a:srgbClr val="E6E6E6"/>
                </a:solidFill>
                <a:latin typeface="Courier New"/>
              </a:rPr>
              <a:t>	globalFsys  filemap[fs.FS]   // mounted file systems</a:t>
            </a:r>
          </a:p>
          <a:p>
            <a:pPr algn="l"/>
            <a:r>
              <a:rPr sz="1400">
                <a:solidFill>
                  <a:srgbClr val="E6E6E6"/>
                </a:solidFill>
                <a:latin typeface="Courier New"/>
              </a:rPr>
              <a:t>	globalFiles filemap[fs.File] // open files</a:t>
            </a:r>
          </a:p>
          <a:p>
            <a:pPr algn="l"/>
            <a:r>
              <a:rPr sz="1400">
                <a:solidFill>
                  <a:srgbClr val="E6E6E6"/>
                </a:solidFill>
                <a:latin typeface="Courier New"/>
              </a:rPr>
              <a: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00000" y="2800000"/>
            <a:ext cx="10400000" cy="1200000"/>
          </a:xfrm>
          <a:prstGeom prst="rect">
            <a:avLst/>
          </a:prstGeom>
          <a:noFill/>
        </p:spPr>
        <p:txBody>
          <a:bodyPr wrap="square">
            <a:spAutoFit/>
          </a:bodyPr>
          <a:lstStyle/>
          <a:p>
            <a:pPr algn="ctr"/>
            <a:r>
              <a:rPr sz="3600" b="1">
                <a:solidFill>
                  <a:srgbClr val="E8590C"/>
                </a:solidFill>
                <a:latin typeface="Arial"/>
              </a:rPr>
              <a:t>Part 3 — Propagating context.Context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0000" y="350000"/>
            <a:ext cx="11000000" cy="800000"/>
          </a:xfrm>
          <a:prstGeom prst="rect">
            <a:avLst/>
          </a:prstGeom>
          <a:noFill/>
        </p:spPr>
        <p:txBody>
          <a:bodyPr wrap="square">
            <a:spAutoFit/>
          </a:bodyPr>
          <a:lstStyle/>
          <a:p>
            <a:r>
              <a:rPr sz="3000" b="1">
                <a:solidFill>
                  <a:srgbClr val="1A1A1A"/>
                </a:solidFill>
                <a:latin typeface="Arial"/>
              </a:rPr>
              <a:t>The context is gone</a:t>
            </a:r>
          </a:p>
        </p:txBody>
      </p:sp>
      <p:sp>
        <p:nvSpPr>
          <p:cNvPr id="3" name="Rectangle 2"/>
          <p:cNvSpPr/>
          <p:nvPr/>
        </p:nvSpPr>
        <p:spPr>
          <a:xfrm>
            <a:off x="700000" y="1400000"/>
            <a:ext cx="10800000" cy="5058000"/>
          </a:xfrm>
          <a:prstGeom prst="rect">
            <a:avLst/>
          </a:prstGeom>
          <a:solidFill>
            <a:srgbClr val="F1F3F5"/>
          </a:solidFill>
          <a:ln w="12700">
            <a:solidFill>
              <a:srgbClr val="ADB5BD"/>
            </a:solidFill>
          </a:ln>
        </p:spPr>
        <p:style>
          <a:lnRef idx="1">
            <a:schemeClr val="accent1"/>
          </a:lnRef>
          <a:fillRef idx="3">
            <a:schemeClr val="accent1"/>
          </a:fillRef>
          <a:effectRef idx="2">
            <a:schemeClr val="accent1"/>
          </a:effectRef>
          <a:fontRef idx="minor">
            <a:schemeClr val="lt1"/>
          </a:fontRef>
        </p:style>
        <p:txBody>
          <a:bodyPr rtlCol="0" anchor="ctr" wrap="square" lIns="400000" rIns="400000"/>
          <a:lstStyle/>
          <a:p>
            <a:pPr algn="ctr"/>
            <a:r>
              <a:rPr sz="1600" i="1">
                <a:solidFill>
                  <a:srgbClr val="6B7280"/>
                </a:solidFill>
                <a:latin typeface="Arial"/>
              </a:rPr>
              <a:t>[DIAGRAM] request ctx enters the handler goroutine, crosses into C++ where DuckDB fans out to worker threads, and re-enters Go via the bridge on a different thread with no ctx; a dotted line shows the path the context needs to travel. Overlay: func (fsys *fileSystem) Open(name string) (fs.File, error)</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0000" y="350000"/>
            <a:ext cx="11000000" cy="800000"/>
          </a:xfrm>
          <a:prstGeom prst="rect">
            <a:avLst/>
          </a:prstGeom>
          <a:noFill/>
        </p:spPr>
        <p:txBody>
          <a:bodyPr wrap="square">
            <a:spAutoFit/>
          </a:bodyPr>
          <a:lstStyle/>
          <a:p>
            <a:r>
              <a:rPr sz="3000" b="1">
                <a:solidFill>
                  <a:srgbClr val="1A1A1A"/>
                </a:solidFill>
                <a:latin typeface="Arial"/>
              </a:rPr>
              <a:t>The file system is a value — values capture</a:t>
            </a:r>
          </a:p>
        </p:txBody>
      </p:sp>
      <p:sp>
        <p:nvSpPr>
          <p:cNvPr id="3" name="Rectangle 2"/>
          <p:cNvSpPr/>
          <p:nvPr/>
        </p:nvSpPr>
        <p:spPr>
          <a:xfrm>
            <a:off x="700000" y="1350000"/>
            <a:ext cx="10800000" cy="425700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wrap="none" lIns="300000" rIns="300000" tIns="200000" bIns="200000"/>
          <a:lstStyle/>
          <a:p>
            <a:pPr algn="l"/>
            <a:r>
              <a:rPr sz="1300">
                <a:solidFill>
                  <a:srgbClr val="E6E6E6"/>
                </a:solidFill>
                <a:latin typeface="Courier New"/>
              </a:rPr>
              <a:t>// FS binds the storage registry to the context of one request.</a:t>
            </a:r>
          </a:p>
          <a:p>
            <a:pPr algn="l"/>
            <a:r>
              <a:rPr sz="1300">
                <a:solidFill>
                  <a:srgbClr val="E6E6E6"/>
                </a:solidFill>
                <a:latin typeface="Courier New"/>
              </a:rPr>
              <a:t>func FS(ctx context.Context, reg Registry) fs.FS {</a:t>
            </a:r>
          </a:p>
          <a:p>
            <a:pPr algn="l"/>
            <a:r>
              <a:rPr sz="1300">
                <a:solidFill>
                  <a:srgbClr val="E6E6E6"/>
                </a:solidFill>
                <a:latin typeface="Courier New"/>
              </a:rPr>
              <a:t>	return &amp;fileSystem{ctx: ctx, reg: reg}</a:t>
            </a:r>
          </a:p>
          <a:p>
            <a:pPr algn="l"/>
            <a:r>
              <a:rPr sz="1300">
                <a:solidFill>
                  <a:srgbClr val="E6E6E6"/>
                </a:solidFill>
                <a:latin typeface="Courier New"/>
              </a:rPr>
              <a:t>}</a:t>
            </a:r>
          </a:p>
          <a:p>
            <a:pPr algn="l"/>
            <a:r>
              <a:rPr sz="1300">
                <a:solidFill>
                  <a:srgbClr val="E6E6E6"/>
                </a:solidFill>
                <a:latin typeface="Courier New"/>
              </a:rPr>
              <a:t> </a:t>
            </a:r>
          </a:p>
          <a:p>
            <a:pPr algn="l"/>
            <a:r>
              <a:rPr sz="1300">
                <a:solidFill>
                  <a:srgbClr val="E6E6E6"/>
                </a:solidFill>
                <a:latin typeface="Courier New"/>
              </a:rPr>
              <a:t>type fileSystem struct {</a:t>
            </a:r>
          </a:p>
          <a:p>
            <a:pPr algn="l"/>
            <a:r>
              <a:rPr sz="1300">
                <a:solidFill>
                  <a:srgbClr val="E6E6E6"/>
                </a:solidFill>
                <a:latin typeface="Courier New"/>
              </a:rPr>
              <a:t>	ctx context.Context</a:t>
            </a:r>
          </a:p>
          <a:p>
            <a:pPr algn="l"/>
            <a:r>
              <a:rPr sz="1300">
                <a:solidFill>
                  <a:srgbClr val="E6E6E6"/>
                </a:solidFill>
                <a:latin typeface="Courier New"/>
              </a:rPr>
              <a:t>	reg Registry</a:t>
            </a:r>
          </a:p>
          <a:p>
            <a:pPr algn="l"/>
            <a:r>
              <a:rPr sz="1300">
                <a:solidFill>
                  <a:srgbClr val="E6E6E6"/>
                </a:solidFill>
                <a:latin typeface="Courier New"/>
              </a:rPr>
              <a:t>}</a:t>
            </a:r>
          </a:p>
          <a:p>
            <a:pPr algn="l"/>
            <a:r>
              <a:rPr sz="1300">
                <a:solidFill>
                  <a:srgbClr val="E6E6E6"/>
                </a:solidFill>
                <a:latin typeface="Courier New"/>
              </a:rPr>
              <a:t> </a:t>
            </a:r>
          </a:p>
          <a:p>
            <a:pPr algn="l"/>
            <a:r>
              <a:rPr sz="1300">
                <a:solidFill>
                  <a:srgbClr val="E6E6E6"/>
                </a:solidFill>
                <a:latin typeface="Courier New"/>
              </a:rPr>
              <a:t>func (fsys *fileSystem) Open(name string) (fs.File, error) {</a:t>
            </a:r>
          </a:p>
          <a:p>
            <a:pPr algn="l"/>
            <a:r>
              <a:rPr sz="1300">
                <a:solidFill>
                  <a:srgbClr val="E6E6E6"/>
                </a:solidFill>
                <a:latin typeface="Courier New"/>
              </a:rPr>
              <a:t>	bucket, key, err := resolve(fsys.ctx, fsys.reg, name)</a:t>
            </a:r>
          </a:p>
          <a:p>
            <a:pPr algn="l"/>
            <a:r>
              <a:rPr sz="1300">
                <a:solidFill>
                  <a:srgbClr val="E6E6E6"/>
                </a:solidFill>
                <a:latin typeface="Courier New"/>
              </a:rPr>
              <a:t>	if err != nil {</a:t>
            </a:r>
          </a:p>
          <a:p>
            <a:pPr algn="l"/>
            <a:r>
              <a:rPr sz="1300">
                <a:solidFill>
                  <a:srgbClr val="E6E6E6"/>
                </a:solidFill>
                <a:latin typeface="Courier New"/>
              </a:rPr>
              <a:t>		return nil, &amp;fs.PathError{Op: "open", Path: name, Err: err}</a:t>
            </a:r>
          </a:p>
          <a:p>
            <a:pPr algn="l"/>
            <a:r>
              <a:rPr sz="1300">
                <a:solidFill>
                  <a:srgbClr val="E6E6E6"/>
                </a:solidFill>
                <a:latin typeface="Courier New"/>
              </a:rPr>
              <a:t>	}</a:t>
            </a:r>
          </a:p>
          <a:p>
            <a:pPr algn="l"/>
            <a:r>
              <a:rPr sz="1300">
                <a:solidFill>
                  <a:srgbClr val="E6E6E6"/>
                </a:solidFill>
                <a:latin typeface="Courier New"/>
              </a:rPr>
              <a:t>	return &amp;file{ctx: fsys.ctx, bucket: bucket, key: key}, nil</a:t>
            </a:r>
          </a:p>
          <a:p>
            <a:pPr algn="l"/>
            <a:r>
              <a:rPr sz="1300">
                <a:solidFill>
                  <a:srgbClr val="E6E6E6"/>
                </a:solidFill>
                <a:latin typeface="Courier New"/>
              </a:rPr>
              <a: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0000" y="350000"/>
            <a:ext cx="11000000" cy="800000"/>
          </a:xfrm>
          <a:prstGeom prst="rect">
            <a:avLst/>
          </a:prstGeom>
          <a:noFill/>
        </p:spPr>
        <p:txBody>
          <a:bodyPr wrap="square">
            <a:spAutoFit/>
          </a:bodyPr>
          <a:lstStyle/>
          <a:p>
            <a:r>
              <a:rPr sz="3000" b="1">
                <a:solidFill>
                  <a:srgbClr val="1A1A1A"/>
                </a:solidFill>
                <a:latin typeface="Arial"/>
              </a:rPr>
              <a:t>Pooled instances, per-request context</a:t>
            </a:r>
          </a:p>
        </p:txBody>
      </p:sp>
      <p:sp>
        <p:nvSpPr>
          <p:cNvPr id="3" name="Rectangle 2"/>
          <p:cNvSpPr/>
          <p:nvPr/>
        </p:nvSpPr>
        <p:spPr>
          <a:xfrm>
            <a:off x="700000" y="1350000"/>
            <a:ext cx="10800000" cy="478400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wrap="none" lIns="300000" rIns="300000" tIns="200000" bIns="200000"/>
          <a:lstStyle/>
          <a:p>
            <a:pPr algn="l"/>
            <a:r>
              <a:rPr sz="1200">
                <a:solidFill>
                  <a:srgbClr val="E6E6E6"/>
                </a:solidFill>
                <a:latin typeface="Courier New"/>
              </a:rPr>
              <a:t>type duckDBFileSystem struct{ fsys fs.FS }</a:t>
            </a:r>
          </a:p>
          <a:p>
            <a:pPr algn="l"/>
            <a:r>
              <a:rPr sz="1200">
                <a:solidFill>
                  <a:srgbClr val="E6E6E6"/>
                </a:solidFill>
                <a:latin typeface="Courier New"/>
              </a:rPr>
              <a:t> </a:t>
            </a:r>
          </a:p>
          <a:p>
            <a:pPr algn="l"/>
            <a:r>
              <a:rPr sz="1200">
                <a:solidFill>
                  <a:srgbClr val="E6E6E6"/>
                </a:solidFill>
                <a:latin typeface="Courier New"/>
              </a:rPr>
              <a:t>func (d *duckDBFileSystem) Open(name string) (fs.File, error) {</a:t>
            </a:r>
          </a:p>
          <a:p>
            <a:pPr algn="l"/>
            <a:r>
              <a:rPr sz="1200">
                <a:solidFill>
                  <a:srgbClr val="E6E6E6"/>
                </a:solidFill>
                <a:latin typeface="Courier New"/>
              </a:rPr>
              <a:t>	if d.fsys == nil {</a:t>
            </a:r>
          </a:p>
          <a:p>
            <a:pPr algn="l"/>
            <a:r>
              <a:rPr sz="1200">
                <a:solidFill>
                  <a:srgbClr val="E6E6E6"/>
                </a:solidFill>
                <a:latin typeface="Courier New"/>
              </a:rPr>
              <a:t>		return nil, fs.ErrNotExist</a:t>
            </a:r>
          </a:p>
          <a:p>
            <a:pPr algn="l"/>
            <a:r>
              <a:rPr sz="1200">
                <a:solidFill>
                  <a:srgbClr val="E6E6E6"/>
                </a:solidFill>
                <a:latin typeface="Courier New"/>
              </a:rPr>
              <a:t>	}</a:t>
            </a:r>
          </a:p>
          <a:p>
            <a:pPr algn="l"/>
            <a:r>
              <a:rPr sz="1200">
                <a:solidFill>
                  <a:srgbClr val="E6E6E6"/>
                </a:solidFill>
                <a:latin typeface="Courier New"/>
              </a:rPr>
              <a:t>	return d.fsys.Open(name)</a:t>
            </a:r>
          </a:p>
          <a:p>
            <a:pPr algn="l"/>
            <a:r>
              <a:rPr sz="1200">
                <a:solidFill>
                  <a:srgbClr val="E6E6E6"/>
                </a:solidFill>
                <a:latin typeface="Courier New"/>
              </a:rPr>
              <a:t>}</a:t>
            </a:r>
          </a:p>
          <a:p>
            <a:pPr algn="l"/>
            <a:r>
              <a:rPr sz="1200">
                <a:solidFill>
                  <a:srgbClr val="E6E6E6"/>
                </a:solidFill>
                <a:latin typeface="Courier New"/>
              </a:rPr>
              <a:t> </a:t>
            </a:r>
          </a:p>
          <a:p>
            <a:pPr algn="l"/>
            <a:r>
              <a:rPr sz="1200">
                <a:solidFill>
                  <a:srgbClr val="E6E6E6"/>
                </a:solidFill>
                <a:latin typeface="Courier New"/>
              </a:rPr>
              <a:t>func (d *duckDBFileSystem) Reset(fsys fs.FS) { d.fsys = fsys }</a:t>
            </a:r>
          </a:p>
          <a:p>
            <a:pPr algn="l"/>
            <a:r>
              <a:rPr sz="1200">
                <a:solidFill>
                  <a:srgbClr val="E6E6E6"/>
                </a:solidFill>
                <a:latin typeface="Courier New"/>
              </a:rPr>
              <a:t> </a:t>
            </a:r>
          </a:p>
          <a:p>
            <a:pPr algn="l"/>
            <a:r>
              <a:rPr sz="1200">
                <a:solidFill>
                  <a:srgbClr val="E6E6E6"/>
                </a:solidFill>
                <a:latin typeface="Courier New"/>
              </a:rPr>
              <a:t>func (p *Pool) Query(ctx context.Context, registry storage.Registry,</a:t>
            </a:r>
          </a:p>
          <a:p>
            <a:pPr algn="l"/>
            <a:r>
              <a:rPr sz="1200">
                <a:solidFill>
                  <a:srgbClr val="E6E6E6"/>
                </a:solidFill>
                <a:latin typeface="Courier New"/>
              </a:rPr>
              <a:t>	sql string, args ...any) (array.RecordReader, error) {</a:t>
            </a:r>
          </a:p>
          <a:p>
            <a:pPr algn="l"/>
            <a:r>
              <a:rPr sz="1200">
                <a:solidFill>
                  <a:srgbClr val="E6E6E6"/>
                </a:solidFill>
                <a:latin typeface="Courier New"/>
              </a:rPr>
              <a:t> </a:t>
            </a:r>
          </a:p>
          <a:p>
            <a:pPr algn="l"/>
            <a:r>
              <a:rPr sz="1200">
                <a:solidFill>
                  <a:srgbClr val="E6E6E6"/>
                </a:solidFill>
                <a:latin typeface="Courier New"/>
              </a:rPr>
              <a:t>	db := p.get() // pooled instance, created with duckfs.Open(...)</a:t>
            </a:r>
          </a:p>
          <a:p>
            <a:pPr algn="l"/>
            <a:r>
              <a:rPr sz="1200">
                <a:solidFill>
                  <a:srgbClr val="E6E6E6"/>
                </a:solidFill>
                <a:latin typeface="Courier New"/>
              </a:rPr>
              <a:t> </a:t>
            </a:r>
          </a:p>
          <a:p>
            <a:pPr algn="l"/>
            <a:r>
              <a:rPr sz="1200">
                <a:solidFill>
                  <a:srgbClr val="E6E6E6"/>
                </a:solidFill>
                <a:latin typeface="Courier New"/>
              </a:rPr>
              <a:t>	fsys := storage.FS(ctx, registry) // capture this request's context</a:t>
            </a:r>
          </a:p>
          <a:p>
            <a:pPr algn="l"/>
            <a:r>
              <a:rPr sz="1200">
                <a:solidFill>
                  <a:srgbClr val="E6E6E6"/>
                </a:solidFill>
                <a:latin typeface="Courier New"/>
              </a:rPr>
              <a:t>	db.fileSystem.Reset(fsys)         // mount it for this query</a:t>
            </a:r>
          </a:p>
          <a:p>
            <a:pPr algn="l"/>
            <a:r>
              <a:rPr sz="1200">
                <a:solidFill>
                  <a:srgbClr val="E6E6E6"/>
                </a:solidFill>
                <a:latin typeface="Courier New"/>
              </a:rPr>
              <a:t> </a:t>
            </a:r>
          </a:p>
          <a:p>
            <a:pPr algn="l"/>
            <a:r>
              <a:rPr sz="1200">
                <a:solidFill>
                  <a:srgbClr val="E6E6E6"/>
                </a:solidFill>
                <a:latin typeface="Courier New"/>
              </a:rPr>
              <a:t>	// ... run the query, return the instance to the pool when done</a:t>
            </a:r>
          </a:p>
          <a:p>
            <a:pPr algn="l"/>
            <a:r>
              <a:rPr sz="1200">
                <a:solidFill>
                  <a:srgbClr val="E6E6E6"/>
                </a:solidFill>
                <a:latin typeface="Courier New"/>
              </a:rPr>
              <a: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0000" y="350000"/>
            <a:ext cx="11000000" cy="800000"/>
          </a:xfrm>
          <a:prstGeom prst="rect">
            <a:avLst/>
          </a:prstGeom>
          <a:noFill/>
        </p:spPr>
        <p:txBody>
          <a:bodyPr wrap="square">
            <a:spAutoFit/>
          </a:bodyPr>
          <a:lstStyle/>
          <a:p>
            <a:r>
              <a:rPr sz="3000" b="1">
                <a:solidFill>
                  <a:srgbClr val="1A1A1A"/>
                </a:solidFill>
                <a:latin typeface="Arial"/>
              </a:rPr>
              <a:t>One trace, end to end</a:t>
            </a:r>
          </a:p>
        </p:txBody>
      </p:sp>
      <p:sp>
        <p:nvSpPr>
          <p:cNvPr id="3" name="Rectangle 2"/>
          <p:cNvSpPr/>
          <p:nvPr/>
        </p:nvSpPr>
        <p:spPr>
          <a:xfrm>
            <a:off x="700000" y="1400000"/>
            <a:ext cx="10800000" cy="5058000"/>
          </a:xfrm>
          <a:prstGeom prst="rect">
            <a:avLst/>
          </a:prstGeom>
          <a:solidFill>
            <a:srgbClr val="F1F3F5"/>
          </a:solidFill>
          <a:ln w="12700">
            <a:solidFill>
              <a:srgbClr val="ADB5BD"/>
            </a:solidFill>
          </a:ln>
        </p:spPr>
        <p:style>
          <a:lnRef idx="1">
            <a:schemeClr val="accent1"/>
          </a:lnRef>
          <a:fillRef idx="3">
            <a:schemeClr val="accent1"/>
          </a:fillRef>
          <a:effectRef idx="2">
            <a:schemeClr val="accent1"/>
          </a:effectRef>
          <a:fontRef idx="minor">
            <a:schemeClr val="lt1"/>
          </a:fontRef>
        </p:style>
        <p:txBody>
          <a:bodyPr rtlCol="0" anchor="ctr" wrap="square" lIns="400000" rIns="400000"/>
          <a:lstStyle/>
          <a:p>
            <a:pPr algn="ctr"/>
            <a:r>
              <a:rPr sz="1600" i="1">
                <a:solidFill>
                  <a:srgbClr val="6B7280"/>
                </a:solidFill>
                <a:latin typeface="Arial"/>
              </a:rPr>
              <a:t>[DIAGRAM] screenshot-style trace waterfall — RPC span at top, query span below, dozens of object store GET spans underneath with varying durations, one highlighted showing an authentication error</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0000" y="350000"/>
            <a:ext cx="11000000" cy="800000"/>
          </a:xfrm>
          <a:prstGeom prst="rect">
            <a:avLst/>
          </a:prstGeom>
          <a:noFill/>
        </p:spPr>
        <p:txBody>
          <a:bodyPr wrap="square">
            <a:spAutoFit/>
          </a:bodyPr>
          <a:lstStyle/>
          <a:p>
            <a:r>
              <a:rPr sz="3000" b="1">
                <a:solidFill>
                  <a:srgbClr val="1A1A1A"/>
                </a:solidFill>
                <a:latin typeface="Arial"/>
              </a:rPr>
              <a:t>Takeaways</a:t>
            </a:r>
          </a:p>
        </p:txBody>
      </p:sp>
      <p:sp>
        <p:nvSpPr>
          <p:cNvPr id="3" name="TextBox 2"/>
          <p:cNvSpPr txBox="1"/>
          <p:nvPr/>
        </p:nvSpPr>
        <p:spPr>
          <a:xfrm>
            <a:off x="600000" y="1400000"/>
            <a:ext cx="11000000" cy="5058000"/>
          </a:xfrm>
          <a:prstGeom prst="rect">
            <a:avLst/>
          </a:prstGeom>
          <a:noFill/>
        </p:spPr>
        <p:txBody>
          <a:bodyPr wrap="square">
            <a:spAutoFit/>
          </a:bodyPr>
          <a:lstStyle/>
          <a:p>
            <a:pPr>
              <a:spcAft>
                <a:spcPts val="1000"/>
              </a:spcAft>
            </a:pPr>
            <a:r>
              <a:rPr sz="2000">
                <a:solidFill>
                  <a:srgbClr val="1A1A1A"/>
                </a:solidFill>
                <a:latin typeface="Arial"/>
              </a:rPr>
              <a:t>• Reuse great software; invest in the glue layer</a:t>
            </a:r>
          </a:p>
          <a:p>
            <a:pPr lvl="1">
              <a:spcAft>
                <a:spcPts val="1000"/>
              </a:spcAft>
            </a:pPr>
            <a:r>
              <a:rPr sz="1800">
                <a:solidFill>
                  <a:srgbClr val="6B7280"/>
                </a:solidFill>
                <a:latin typeface="Arial"/>
              </a:rPr>
              <a:t>– DuckDB's VFS + Go's fs.FS met in the middle — SQLite has a hook too</a:t>
            </a:r>
          </a:p>
          <a:p>
            <a:pPr>
              <a:spcAft>
                <a:spcPts val="1000"/>
              </a:spcAft>
            </a:pPr>
            <a:r>
              <a:rPr sz="2000">
                <a:solidFill>
                  <a:srgbClr val="1A1A1A"/>
                </a:solidFill>
                <a:latin typeface="Arial"/>
              </a:rPr>
              <a:t>• The techniques travel: C++ shim, //export, integer handles,</a:t>
            </a:r>
          </a:p>
          <a:p>
            <a:pPr lvl="1">
              <a:spcAft>
                <a:spcPts val="1000"/>
              </a:spcAft>
            </a:pPr>
            <a:r>
              <a:rPr sz="1800">
                <a:solidFill>
                  <a:srgbClr val="6B7280"/>
                </a:solidFill>
                <a:latin typeface="Arial"/>
              </a:rPr>
              <a:t>– request-scoped values to carry context across thread pools</a:t>
            </a:r>
          </a:p>
          <a:p>
            <a:pPr>
              <a:spcAft>
                <a:spcPts val="1000"/>
              </a:spcAft>
            </a:pPr>
            <a:r>
              <a:rPr sz="2000">
                <a:solidFill>
                  <a:srgbClr val="1A1A1A"/>
                </a:solidFill>
                <a:latin typeface="Arial"/>
              </a:rPr>
              <a:t>• CGO: know the problems you sign up for — then design them away</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00000" y="2800000"/>
            <a:ext cx="10400000" cy="1200000"/>
          </a:xfrm>
          <a:prstGeom prst="rect">
            <a:avLst/>
          </a:prstGeom>
          <a:noFill/>
        </p:spPr>
        <p:txBody>
          <a:bodyPr wrap="square">
            <a:spAutoFit/>
          </a:bodyPr>
          <a:lstStyle/>
          <a:p>
            <a:pPr algn="ctr"/>
            <a:r>
              <a:rPr sz="3600" b="1">
                <a:solidFill>
                  <a:srgbClr val="E8590C"/>
                </a:solidFill>
                <a:latin typeface="Arial"/>
              </a:rPr>
              <a:t>github.com/firetiger-oss/go-duckfs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